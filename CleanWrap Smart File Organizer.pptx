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Light" charset="1" panose="00000400000000000000"/>
      <p:regular r:id="rId21"/>
    </p:embeddedFont>
    <p:embeddedFont>
      <p:font typeface="Poppins Bold" charset="1" panose="00000800000000000000"/>
      <p:regular r:id="rId22"/>
    </p:embeddedFont>
    <p:embeddedFont>
      <p:font typeface="HK Modular" charset="1" panose="00000800000000000000"/>
      <p:regular r:id="rId23"/>
    </p:embeddedFont>
    <p:embeddedFont>
      <p:font typeface="League Spartan" charset="1" panose="00000800000000000000"/>
      <p:regular r:id="rId24"/>
    </p:embeddedFont>
    <p:embeddedFont>
      <p:font typeface="Neue Montreal Medium" charset="1" panose="00000400000000000000"/>
      <p:regular r:id="rId25"/>
    </p:embeddedFont>
    <p:embeddedFont>
      <p:font typeface="Barabara" charset="1" panose="00000000000000000000"/>
      <p:regular r:id="rId26"/>
    </p:embeddedFont>
    <p:embeddedFont>
      <p:font typeface="Canva Sans" charset="1" panose="020B0503030501040103"/>
      <p:regular r:id="rId27"/>
    </p:embeddedFont>
    <p:embeddedFont>
      <p:font typeface="Playwrite US Modern Light" charset="1" panose="00000000000000000000"/>
      <p:regular r:id="rId28"/>
    </p:embeddedFont>
    <p:embeddedFont>
      <p:font typeface="Finger Paint" charset="1" panose="020B0506040000020004"/>
      <p:regular r:id="rId29"/>
    </p:embeddedFont>
    <p:embeddedFont>
      <p:font typeface="More Sugar" charset="1" panose="00000000000000000000"/>
      <p:regular r:id="rId30"/>
    </p:embeddedFont>
    <p:embeddedFont>
      <p:font typeface="Chewy" charset="1" panose="02000000000000000000"/>
      <p:regular r:id="rId31"/>
    </p:embeddedFont>
    <p:embeddedFont>
      <p:font typeface="Poppins" charset="1" panose="00000500000000000000"/>
      <p:regular r:id="rId32"/>
    </p:embeddedFont>
    <p:embeddedFont>
      <p:font typeface="Alyssum" charset="1" panose="00000500000000000000"/>
      <p:regular r:id="rId33"/>
    </p:embeddedFont>
    <p:embeddedFont>
      <p:font typeface="Albertus Nova" charset="1" panose="020E0503040304020304"/>
      <p:regular r:id="rId34"/>
    </p:embeddedFont>
    <p:embeddedFont>
      <p:font typeface="ABeeZee" charset="1" panose="02000000000000000000"/>
      <p:regular r:id="rId35"/>
    </p:embeddedFont>
    <p:embeddedFont>
      <p:font typeface="Ambiguity Bold" charset="1" panose="020B0804020203020204"/>
      <p:regular r:id="rId36"/>
    </p:embeddedFont>
    <p:embeddedFont>
      <p:font typeface="Antique Olive Bold" charset="1" panose="020B070302020403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jpeg" Type="http://schemas.openxmlformats.org/officeDocument/2006/relationships/image"/><Relationship Id="rId7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9.pn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0.jpeg" Type="http://schemas.openxmlformats.org/officeDocument/2006/relationships/image"/><Relationship Id="rId5" Target="../media/image14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3.pn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6.png" Type="http://schemas.openxmlformats.org/officeDocument/2006/relationships/image"/><Relationship Id="rId7" Target="../media/image29.png" Type="http://schemas.openxmlformats.org/officeDocument/2006/relationships/image"/><Relationship Id="rId8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jpeg" Type="http://schemas.openxmlformats.org/officeDocument/2006/relationships/image"/><Relationship Id="rId5" Target="../media/image30.jpe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7.png" Type="http://schemas.openxmlformats.org/officeDocument/2006/relationships/image"/><Relationship Id="rId6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354414" y="-28708"/>
            <a:ext cx="28036252" cy="9287008"/>
          </a:xfrm>
          <a:custGeom>
            <a:avLst/>
            <a:gdLst/>
            <a:ahLst/>
            <a:cxnLst/>
            <a:rect r="r" b="b" t="t" l="l"/>
            <a:pathLst>
              <a:path h="9287008" w="28036252">
                <a:moveTo>
                  <a:pt x="28036252" y="0"/>
                </a:moveTo>
                <a:lnTo>
                  <a:pt x="0" y="0"/>
                </a:lnTo>
                <a:lnTo>
                  <a:pt x="0" y="9287008"/>
                </a:lnTo>
                <a:lnTo>
                  <a:pt x="28036252" y="9287008"/>
                </a:lnTo>
                <a:lnTo>
                  <a:pt x="28036252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25403" y="2478612"/>
            <a:ext cx="11437194" cy="5329776"/>
          </a:xfrm>
          <a:custGeom>
            <a:avLst/>
            <a:gdLst/>
            <a:ahLst/>
            <a:cxnLst/>
            <a:rect r="r" b="b" t="t" l="l"/>
            <a:pathLst>
              <a:path h="5329776" w="11437194">
                <a:moveTo>
                  <a:pt x="0" y="0"/>
                </a:moveTo>
                <a:lnTo>
                  <a:pt x="11437194" y="0"/>
                </a:lnTo>
                <a:lnTo>
                  <a:pt x="11437194" y="5329776"/>
                </a:lnTo>
                <a:lnTo>
                  <a:pt x="0" y="53297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1013" r="0" b="-879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022952"/>
            <a:ext cx="1750349" cy="32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5"/>
              </a:lnSpc>
              <a:spcBef>
                <a:spcPct val="0"/>
              </a:spcBef>
            </a:pPr>
            <a:r>
              <a:rPr lang="en-US" sz="17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Presented by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03437" y="9055991"/>
            <a:ext cx="5689136" cy="33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16"/>
              </a:lnSpc>
              <a:spcBef>
                <a:spcPct val="0"/>
              </a:spcBef>
            </a:pPr>
            <a:r>
              <a:rPr lang="en-US" sz="186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xtendarena@2026 | All Rights Reserved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14145" y="837222"/>
            <a:ext cx="404158" cy="32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15"/>
              </a:lnSpc>
              <a:spcBef>
                <a:spcPct val="0"/>
              </a:spcBef>
            </a:pPr>
            <a:r>
              <a:rPr lang="en-US" sz="17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79049" y="9075041"/>
            <a:ext cx="3006595" cy="50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7"/>
              </a:lnSpc>
              <a:spcBef>
                <a:spcPct val="0"/>
              </a:spcBef>
            </a:pPr>
            <a:r>
              <a:rPr lang="en-US" b="true" sz="145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Ettisaf Rup, </a:t>
            </a:r>
          </a:p>
          <a:p>
            <a:pPr algn="l" marL="0" indent="0" lvl="0">
              <a:lnSpc>
                <a:spcPts val="2037"/>
              </a:lnSpc>
              <a:spcBef>
                <a:spcPct val="0"/>
              </a:spcBef>
            </a:pPr>
            <a:r>
              <a:rPr lang="en-US" b="true" sz="145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Lead, XtendArena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36113" y="376915"/>
            <a:ext cx="2035769" cy="1034914"/>
            <a:chOff x="0" y="0"/>
            <a:chExt cx="2714358" cy="13798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8990" cy="1379886"/>
            </a:xfrm>
            <a:custGeom>
              <a:avLst/>
              <a:gdLst/>
              <a:ahLst/>
              <a:cxnLst/>
              <a:rect r="r" b="b" t="t" l="l"/>
              <a:pathLst>
                <a:path h="1379886" w="2538990">
                  <a:moveTo>
                    <a:pt x="0" y="0"/>
                  </a:moveTo>
                  <a:lnTo>
                    <a:pt x="2538990" y="0"/>
                  </a:lnTo>
                  <a:lnTo>
                    <a:pt x="2538990" y="1379886"/>
                  </a:lnTo>
                  <a:lnTo>
                    <a:pt x="0" y="1379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8424" t="-53641" r="-31812" b="-4213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80560" y="795793"/>
              <a:ext cx="2333798" cy="374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5"/>
                </a:lnSpc>
                <a:spcBef>
                  <a:spcPct val="0"/>
                </a:spcBef>
              </a:pPr>
              <a:r>
                <a:rPr lang="en-US" sz="1696" spc="549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ARENA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true" flipV="false" rot="0">
            <a:off x="-3679154" y="-297365"/>
            <a:ext cx="28036252" cy="9287008"/>
          </a:xfrm>
          <a:custGeom>
            <a:avLst/>
            <a:gdLst/>
            <a:ahLst/>
            <a:cxnLst/>
            <a:rect r="r" b="b" t="t" l="l"/>
            <a:pathLst>
              <a:path h="9287008" w="28036252">
                <a:moveTo>
                  <a:pt x="28036252" y="0"/>
                </a:moveTo>
                <a:lnTo>
                  <a:pt x="0" y="0"/>
                </a:lnTo>
                <a:lnTo>
                  <a:pt x="0" y="9287008"/>
                </a:lnTo>
                <a:lnTo>
                  <a:pt x="28036252" y="9287008"/>
                </a:lnTo>
                <a:lnTo>
                  <a:pt x="28036252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69215">
            <a:off x="1152468" y="2047868"/>
            <a:ext cx="7190356" cy="7190356"/>
          </a:xfrm>
          <a:custGeom>
            <a:avLst/>
            <a:gdLst/>
            <a:ahLst/>
            <a:cxnLst/>
            <a:rect r="r" b="b" t="t" l="l"/>
            <a:pathLst>
              <a:path h="7190356" w="7190356">
                <a:moveTo>
                  <a:pt x="0" y="0"/>
                </a:moveTo>
                <a:lnTo>
                  <a:pt x="7190356" y="0"/>
                </a:lnTo>
                <a:lnTo>
                  <a:pt x="7190356" y="7190356"/>
                </a:lnTo>
                <a:lnTo>
                  <a:pt x="0" y="71903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616243" y="2006975"/>
            <a:ext cx="8671757" cy="8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2"/>
              </a:lnSpc>
              <a:spcBef>
                <a:spcPct val="0"/>
              </a:spcBef>
            </a:pPr>
            <a:r>
              <a:rPr lang="en-US" sz="480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CLEANWRAP?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989521" y="3103189"/>
            <a:ext cx="8269779" cy="6596697"/>
            <a:chOff x="0" y="0"/>
            <a:chExt cx="11026371" cy="879559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026371" cy="8795596"/>
              <a:chOff x="0" y="0"/>
              <a:chExt cx="2178049" cy="173740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78049" cy="1737402"/>
              </a:xfrm>
              <a:custGeom>
                <a:avLst/>
                <a:gdLst/>
                <a:ahLst/>
                <a:cxnLst/>
                <a:rect r="r" b="b" t="t" l="l"/>
                <a:pathLst>
                  <a:path h="1737402" w="2178049">
                    <a:moveTo>
                      <a:pt x="32766" y="0"/>
                    </a:moveTo>
                    <a:lnTo>
                      <a:pt x="2145283" y="0"/>
                    </a:lnTo>
                    <a:cubicBezTo>
                      <a:pt x="2153973" y="0"/>
                      <a:pt x="2162307" y="3452"/>
                      <a:pt x="2168452" y="9597"/>
                    </a:cubicBezTo>
                    <a:cubicBezTo>
                      <a:pt x="2174597" y="15742"/>
                      <a:pt x="2178049" y="24076"/>
                      <a:pt x="2178049" y="32766"/>
                    </a:cubicBezTo>
                    <a:lnTo>
                      <a:pt x="2178049" y="1704636"/>
                    </a:lnTo>
                    <a:cubicBezTo>
                      <a:pt x="2178049" y="1722732"/>
                      <a:pt x="2163379" y="1737402"/>
                      <a:pt x="2145283" y="1737402"/>
                    </a:cubicBezTo>
                    <a:lnTo>
                      <a:pt x="32766" y="1737402"/>
                    </a:lnTo>
                    <a:cubicBezTo>
                      <a:pt x="24076" y="1737402"/>
                      <a:pt x="15742" y="1733950"/>
                      <a:pt x="9597" y="1727805"/>
                    </a:cubicBezTo>
                    <a:cubicBezTo>
                      <a:pt x="3452" y="1721660"/>
                      <a:pt x="0" y="1713326"/>
                      <a:pt x="0" y="1704636"/>
                    </a:cubicBezTo>
                    <a:lnTo>
                      <a:pt x="0" y="32766"/>
                    </a:lnTo>
                    <a:cubicBezTo>
                      <a:pt x="0" y="24076"/>
                      <a:pt x="3452" y="15742"/>
                      <a:pt x="9597" y="9597"/>
                    </a:cubicBezTo>
                    <a:cubicBezTo>
                      <a:pt x="15742" y="3452"/>
                      <a:pt x="24076" y="0"/>
                      <a:pt x="3276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C59">
                      <a:alpha val="100000"/>
                    </a:srgbClr>
                  </a:gs>
                  <a:gs pos="100000">
                    <a:srgbClr val="53008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2178049" cy="17945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804291" y="6189185"/>
              <a:ext cx="1087932" cy="865011"/>
            </a:xfrm>
            <a:custGeom>
              <a:avLst/>
              <a:gdLst/>
              <a:ahLst/>
              <a:cxnLst/>
              <a:rect r="r" b="b" t="t" l="l"/>
              <a:pathLst>
                <a:path h="865011" w="1087932">
                  <a:moveTo>
                    <a:pt x="0" y="0"/>
                  </a:moveTo>
                  <a:lnTo>
                    <a:pt x="1087932" y="0"/>
                  </a:lnTo>
                  <a:lnTo>
                    <a:pt x="1087932" y="865011"/>
                  </a:lnTo>
                  <a:lnTo>
                    <a:pt x="0" y="865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122569" y="6189185"/>
              <a:ext cx="1187629" cy="963873"/>
            </a:xfrm>
            <a:custGeom>
              <a:avLst/>
              <a:gdLst/>
              <a:ahLst/>
              <a:cxnLst/>
              <a:rect r="r" b="b" t="t" l="l"/>
              <a:pathLst>
                <a:path h="963873" w="1187629">
                  <a:moveTo>
                    <a:pt x="0" y="0"/>
                  </a:moveTo>
                  <a:lnTo>
                    <a:pt x="1187629" y="0"/>
                  </a:lnTo>
                  <a:lnTo>
                    <a:pt x="1187629" y="963873"/>
                  </a:lnTo>
                  <a:lnTo>
                    <a:pt x="0" y="963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519114" y="393717"/>
              <a:ext cx="10158989" cy="5246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91"/>
                </a:lnSpc>
                <a:spcBef>
                  <a:spcPct val="0"/>
                </a:spcBef>
              </a:pPr>
              <a:r>
                <a:rPr lang="en-US" sz="2065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CleanWrap is a fast, lightweight, and modular Windows desktop file organizer written in Modern C++20. It automatically scans messy folders and sorts every file into clean, well-structured categories — all in a matter of seconds.</a:t>
              </a:r>
            </a:p>
            <a:p>
              <a:pPr algn="l" marL="0" indent="0" lvl="0">
                <a:lnSpc>
                  <a:spcPts val="2891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891"/>
                </a:lnSpc>
                <a:spcBef>
                  <a:spcPct val="0"/>
                </a:spcBef>
              </a:pPr>
              <a:r>
                <a:rPr lang="en-US" sz="2065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Designed to be a true native Windows utility, CleanWrap has zero runtime dependencies and leaves no background processes running.</a:t>
              </a:r>
            </a:p>
            <a:p>
              <a:pPr algn="l" marL="0" indent="0" lvl="0">
                <a:lnSpc>
                  <a:spcPts val="2751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751"/>
                </a:lnSpc>
                <a:spcBef>
                  <a:spcPct val="0"/>
                </a:spcBef>
              </a:pPr>
              <a:r>
                <a:rPr lang="en-US" sz="1965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It simply runs, organizes, and exits cleanly.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224196" y="7302174"/>
              <a:ext cx="2248124" cy="802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07"/>
                </a:lnSpc>
                <a:spcBef>
                  <a:spcPct val="0"/>
                </a:spcBef>
              </a:pPr>
              <a:r>
                <a:rPr lang="en-US" b="true" sz="171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Lightweight</a:t>
              </a:r>
            </a:p>
            <a:p>
              <a:pPr algn="l" marL="0" indent="0" lvl="0">
                <a:lnSpc>
                  <a:spcPts val="2407"/>
                </a:lnSpc>
                <a:spcBef>
                  <a:spcPct val="0"/>
                </a:spcBef>
              </a:pPr>
              <a:r>
                <a:rPr lang="en-US" b="true" sz="171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Minimal &amp; Fast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769911" y="7302174"/>
              <a:ext cx="3080574" cy="802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7"/>
                </a:lnSpc>
                <a:spcBef>
                  <a:spcPct val="0"/>
                </a:spcBef>
              </a:pPr>
              <a:r>
                <a:rPr lang="en-US" b="true" sz="171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Open Source &amp; Modular Design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614145" y="856272"/>
            <a:ext cx="404158" cy="25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54"/>
              </a:lnSpc>
              <a:spcBef>
                <a:spcPct val="0"/>
              </a:spcBef>
            </a:pPr>
            <a:r>
              <a:rPr lang="en-US" sz="146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14056" y="644527"/>
            <a:ext cx="1407746" cy="719596"/>
          </a:xfrm>
          <a:custGeom>
            <a:avLst/>
            <a:gdLst/>
            <a:ahLst/>
            <a:cxnLst/>
            <a:rect r="r" b="b" t="t" l="l"/>
            <a:pathLst>
              <a:path h="719596" w="1407746">
                <a:moveTo>
                  <a:pt x="0" y="0"/>
                </a:moveTo>
                <a:lnTo>
                  <a:pt x="1407747" y="0"/>
                </a:lnTo>
                <a:lnTo>
                  <a:pt x="1407747" y="719595"/>
                </a:lnTo>
                <a:lnTo>
                  <a:pt x="0" y="7195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4000"/>
            </a:blip>
            <a:stretch>
              <a:fillRect l="-45384" t="-64863" r="-42508" b="-64871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9950" y="6252096"/>
            <a:ext cx="4648886" cy="3006204"/>
            <a:chOff x="0" y="0"/>
            <a:chExt cx="1224398" cy="791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4398" cy="791757"/>
            </a:xfrm>
            <a:custGeom>
              <a:avLst/>
              <a:gdLst/>
              <a:ahLst/>
              <a:cxnLst/>
              <a:rect r="r" b="b" t="t" l="l"/>
              <a:pathLst>
                <a:path h="791757" w="1224398">
                  <a:moveTo>
                    <a:pt x="58286" y="0"/>
                  </a:moveTo>
                  <a:lnTo>
                    <a:pt x="1166111" y="0"/>
                  </a:lnTo>
                  <a:cubicBezTo>
                    <a:pt x="1198302" y="0"/>
                    <a:pt x="1224398" y="26096"/>
                    <a:pt x="1224398" y="58286"/>
                  </a:cubicBezTo>
                  <a:lnTo>
                    <a:pt x="1224398" y="733471"/>
                  </a:lnTo>
                  <a:cubicBezTo>
                    <a:pt x="1224398" y="765662"/>
                    <a:pt x="1198302" y="791757"/>
                    <a:pt x="1166111" y="791757"/>
                  </a:cubicBezTo>
                  <a:lnTo>
                    <a:pt x="58286" y="791757"/>
                  </a:lnTo>
                  <a:cubicBezTo>
                    <a:pt x="26096" y="791757"/>
                    <a:pt x="0" y="765662"/>
                    <a:pt x="0" y="733471"/>
                  </a:cubicBezTo>
                  <a:lnTo>
                    <a:pt x="0" y="58286"/>
                  </a:lnTo>
                  <a:cubicBezTo>
                    <a:pt x="0" y="26096"/>
                    <a:pt x="26096" y="0"/>
                    <a:pt x="582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C59">
                    <a:alpha val="100000"/>
                  </a:srgbClr>
                </a:gs>
                <a:gs pos="100000">
                  <a:srgbClr val="53008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24398" cy="848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19557" y="6252096"/>
            <a:ext cx="4648886" cy="3006204"/>
            <a:chOff x="0" y="0"/>
            <a:chExt cx="1224398" cy="7917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4398" cy="791757"/>
            </a:xfrm>
            <a:custGeom>
              <a:avLst/>
              <a:gdLst/>
              <a:ahLst/>
              <a:cxnLst/>
              <a:rect r="r" b="b" t="t" l="l"/>
              <a:pathLst>
                <a:path h="791757" w="1224398">
                  <a:moveTo>
                    <a:pt x="58286" y="0"/>
                  </a:moveTo>
                  <a:lnTo>
                    <a:pt x="1166111" y="0"/>
                  </a:lnTo>
                  <a:cubicBezTo>
                    <a:pt x="1198302" y="0"/>
                    <a:pt x="1224398" y="26096"/>
                    <a:pt x="1224398" y="58286"/>
                  </a:cubicBezTo>
                  <a:lnTo>
                    <a:pt x="1224398" y="733471"/>
                  </a:lnTo>
                  <a:cubicBezTo>
                    <a:pt x="1224398" y="765662"/>
                    <a:pt x="1198302" y="791757"/>
                    <a:pt x="1166111" y="791757"/>
                  </a:cubicBezTo>
                  <a:lnTo>
                    <a:pt x="58286" y="791757"/>
                  </a:lnTo>
                  <a:cubicBezTo>
                    <a:pt x="26096" y="791757"/>
                    <a:pt x="0" y="765662"/>
                    <a:pt x="0" y="733471"/>
                  </a:cubicBezTo>
                  <a:lnTo>
                    <a:pt x="0" y="58286"/>
                  </a:lnTo>
                  <a:cubicBezTo>
                    <a:pt x="0" y="26096"/>
                    <a:pt x="26096" y="0"/>
                    <a:pt x="58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24398" cy="848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59164" y="6252096"/>
            <a:ext cx="4648886" cy="3006204"/>
            <a:chOff x="0" y="0"/>
            <a:chExt cx="1224398" cy="7917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4398" cy="791757"/>
            </a:xfrm>
            <a:custGeom>
              <a:avLst/>
              <a:gdLst/>
              <a:ahLst/>
              <a:cxnLst/>
              <a:rect r="r" b="b" t="t" l="l"/>
              <a:pathLst>
                <a:path h="791757" w="1224398">
                  <a:moveTo>
                    <a:pt x="58286" y="0"/>
                  </a:moveTo>
                  <a:lnTo>
                    <a:pt x="1166111" y="0"/>
                  </a:lnTo>
                  <a:cubicBezTo>
                    <a:pt x="1198302" y="0"/>
                    <a:pt x="1224398" y="26096"/>
                    <a:pt x="1224398" y="58286"/>
                  </a:cubicBezTo>
                  <a:lnTo>
                    <a:pt x="1224398" y="733471"/>
                  </a:lnTo>
                  <a:cubicBezTo>
                    <a:pt x="1224398" y="765662"/>
                    <a:pt x="1198302" y="791757"/>
                    <a:pt x="1166111" y="791757"/>
                  </a:cubicBezTo>
                  <a:lnTo>
                    <a:pt x="58286" y="791757"/>
                  </a:lnTo>
                  <a:cubicBezTo>
                    <a:pt x="26096" y="791757"/>
                    <a:pt x="0" y="765662"/>
                    <a:pt x="0" y="733471"/>
                  </a:cubicBezTo>
                  <a:lnTo>
                    <a:pt x="0" y="58286"/>
                  </a:lnTo>
                  <a:cubicBezTo>
                    <a:pt x="0" y="26096"/>
                    <a:pt x="26096" y="0"/>
                    <a:pt x="582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24398" cy="848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705306" y="1676380"/>
            <a:ext cx="7402997" cy="3451855"/>
          </a:xfrm>
          <a:custGeom>
            <a:avLst/>
            <a:gdLst/>
            <a:ahLst/>
            <a:cxnLst/>
            <a:rect r="r" b="b" t="t" l="l"/>
            <a:pathLst>
              <a:path h="3451855" w="7402997">
                <a:moveTo>
                  <a:pt x="0" y="0"/>
                </a:moveTo>
                <a:lnTo>
                  <a:pt x="7402996" y="0"/>
                </a:lnTo>
                <a:lnTo>
                  <a:pt x="7402996" y="3451855"/>
                </a:lnTo>
                <a:lnTo>
                  <a:pt x="0" y="3451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406927" y="6529937"/>
            <a:ext cx="927572" cy="927572"/>
          </a:xfrm>
          <a:custGeom>
            <a:avLst/>
            <a:gdLst/>
            <a:ahLst/>
            <a:cxnLst/>
            <a:rect r="r" b="b" t="t" l="l"/>
            <a:pathLst>
              <a:path h="927572" w="927572">
                <a:moveTo>
                  <a:pt x="0" y="0"/>
                </a:moveTo>
                <a:lnTo>
                  <a:pt x="927572" y="0"/>
                </a:lnTo>
                <a:lnTo>
                  <a:pt x="927572" y="927572"/>
                </a:lnTo>
                <a:lnTo>
                  <a:pt x="0" y="927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716" t="-8500" r="-41346" b="-591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79950" y="2779137"/>
            <a:ext cx="6491475" cy="1122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95"/>
              </a:lnSpc>
              <a:spcBef>
                <a:spcPct val="0"/>
              </a:spcBef>
            </a:pPr>
            <a:r>
              <a:rPr lang="en-US" b="true" sz="656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VISUAL IDENTITY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9950" y="1756453"/>
            <a:ext cx="6491475" cy="1122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95"/>
              </a:lnSpc>
              <a:spcBef>
                <a:spcPct val="0"/>
              </a:spcBef>
            </a:pPr>
            <a:r>
              <a:rPr lang="en-US" b="true" sz="656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BRANDING &amp;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9950" y="4233992"/>
            <a:ext cx="6491475" cy="159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7"/>
              </a:lnSpc>
            </a:pPr>
            <a:r>
              <a:rPr lang="en-US" sz="1967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CleanWrap's visual identity is built on a modern, tech-focused aesthetic with a deep navy to purple gradient palette, clean typography, and a distinctive ribbon bow logo mark.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21983" y="6552240"/>
            <a:ext cx="2310430" cy="844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1"/>
              </a:lnSpc>
              <a:spcBef>
                <a:spcPct val="0"/>
              </a:spcBef>
            </a:pPr>
            <a:r>
              <a:rPr lang="en-US" b="true" sz="239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CleanWrap Logo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61590" y="6552240"/>
            <a:ext cx="2926638" cy="87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Color Palette</a:t>
            </a:r>
          </a:p>
          <a:p>
            <a:pPr algn="l" marL="538404" indent="-269202" lvl="1">
              <a:lnSpc>
                <a:spcPts val="349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CleanWrap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21983" y="7605487"/>
            <a:ext cx="3364821" cy="123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3"/>
              </a:lnSpc>
              <a:spcBef>
                <a:spcPct val="0"/>
              </a:spcBef>
            </a:pPr>
            <a:r>
              <a:rPr lang="en-US" sz="1445">
                <a:solidFill>
                  <a:srgbClr val="EDEFFA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sleek ribbon bow icon paired with bold modern typography. Represents clean, organized, and efficient file management at a glance.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61590" y="7605487"/>
            <a:ext cx="3364821" cy="133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3"/>
              </a:lnSpc>
              <a:spcBef>
                <a:spcPct val="0"/>
              </a:spcBef>
            </a:pPr>
            <a:r>
              <a:rPr lang="en-US" sz="154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Primary: Blue (#4A90E2), </a:t>
            </a:r>
          </a:p>
          <a:p>
            <a:pPr algn="l" marL="0" indent="0" lvl="0">
              <a:lnSpc>
                <a:spcPts val="2163"/>
              </a:lnSpc>
              <a:spcBef>
                <a:spcPct val="0"/>
              </a:spcBef>
            </a:pPr>
            <a:r>
              <a:rPr lang="en-US" sz="154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Purple gradient, Dark navy backgrounds. Conveys speed, trust, and modern Windows-native software design.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01196" y="6552240"/>
            <a:ext cx="2310430" cy="844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1"/>
              </a:lnSpc>
              <a:spcBef>
                <a:spcPct val="0"/>
              </a:spcBef>
            </a:pPr>
            <a:r>
              <a:rPr lang="en-US" b="true" sz="23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Publish Inc. </a:t>
            </a:r>
            <a:r>
              <a:rPr lang="en-US" b="true" sz="23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XtendArena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01196" y="7605487"/>
            <a:ext cx="3364821" cy="133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3"/>
              </a:lnSpc>
              <a:spcBef>
                <a:spcPct val="0"/>
              </a:spcBef>
            </a:pPr>
            <a:r>
              <a:rPr lang="en-US" sz="154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XtendArena's logo anchors CleanWrap's identity as part of a professional software ecosystem, ensuring brand consistency across products.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614145" y="846747"/>
            <a:ext cx="404158" cy="292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65"/>
              </a:lnSpc>
              <a:spcBef>
                <a:spcPct val="0"/>
              </a:spcBef>
            </a:pPr>
            <a:r>
              <a:rPr lang="en-US" sz="161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14056" y="534574"/>
            <a:ext cx="1407746" cy="719596"/>
          </a:xfrm>
          <a:custGeom>
            <a:avLst/>
            <a:gdLst/>
            <a:ahLst/>
            <a:cxnLst/>
            <a:rect r="r" b="b" t="t" l="l"/>
            <a:pathLst>
              <a:path h="719596" w="1407746">
                <a:moveTo>
                  <a:pt x="0" y="0"/>
                </a:moveTo>
                <a:lnTo>
                  <a:pt x="1407747" y="0"/>
                </a:lnTo>
                <a:lnTo>
                  <a:pt x="1407747" y="719596"/>
                </a:lnTo>
                <a:lnTo>
                  <a:pt x="0" y="7195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</a:blip>
            <a:stretch>
              <a:fillRect l="-45384" t="-64863" r="-42508" b="-6487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C59">
                <a:alpha val="100000"/>
              </a:srgbClr>
            </a:gs>
            <a:gs pos="100000">
              <a:srgbClr val="53008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44847" y="1753808"/>
            <a:ext cx="6936509" cy="8878039"/>
            <a:chOff x="0" y="0"/>
            <a:chExt cx="690356" cy="8835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0356" cy="883587"/>
            </a:xfrm>
            <a:custGeom>
              <a:avLst/>
              <a:gdLst/>
              <a:ahLst/>
              <a:cxnLst/>
              <a:rect r="r" b="b" t="t" l="l"/>
              <a:pathLst>
                <a:path h="883587" w="690356">
                  <a:moveTo>
                    <a:pt x="50225" y="0"/>
                  </a:moveTo>
                  <a:lnTo>
                    <a:pt x="640131" y="0"/>
                  </a:lnTo>
                  <a:cubicBezTo>
                    <a:pt x="667870" y="0"/>
                    <a:pt x="690356" y="22487"/>
                    <a:pt x="690356" y="50225"/>
                  </a:cubicBezTo>
                  <a:lnTo>
                    <a:pt x="690356" y="833362"/>
                  </a:lnTo>
                  <a:cubicBezTo>
                    <a:pt x="690356" y="861100"/>
                    <a:pt x="667870" y="883587"/>
                    <a:pt x="640131" y="883587"/>
                  </a:cubicBezTo>
                  <a:lnTo>
                    <a:pt x="50225" y="883587"/>
                  </a:lnTo>
                  <a:cubicBezTo>
                    <a:pt x="22487" y="883587"/>
                    <a:pt x="0" y="861100"/>
                    <a:pt x="0" y="833362"/>
                  </a:cubicBezTo>
                  <a:lnTo>
                    <a:pt x="0" y="50225"/>
                  </a:lnTo>
                  <a:cubicBezTo>
                    <a:pt x="0" y="22487"/>
                    <a:pt x="22487" y="0"/>
                    <a:pt x="5022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84" r="0" b="-8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537655" y="2851264"/>
            <a:ext cx="6491475" cy="1310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8"/>
              </a:lnSpc>
              <a:spcBef>
                <a:spcPct val="0"/>
              </a:spcBef>
            </a:pPr>
            <a:r>
              <a:rPr lang="en-US" b="true" sz="3777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CORE INFORMATION AT A GLANCE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30440" y="3010146"/>
            <a:ext cx="6624988" cy="5298251"/>
            <a:chOff x="0" y="0"/>
            <a:chExt cx="8833317" cy="70643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33317" cy="5664365"/>
            </a:xfrm>
            <a:custGeom>
              <a:avLst/>
              <a:gdLst/>
              <a:ahLst/>
              <a:cxnLst/>
              <a:rect r="r" b="b" t="t" l="l"/>
              <a:pathLst>
                <a:path h="5664365" w="8833317">
                  <a:moveTo>
                    <a:pt x="0" y="0"/>
                  </a:moveTo>
                  <a:lnTo>
                    <a:pt x="8833317" y="0"/>
                  </a:lnTo>
                  <a:lnTo>
                    <a:pt x="8833317" y="5664365"/>
                  </a:lnTo>
                  <a:lnTo>
                    <a:pt x="0" y="5664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1120245" y="396766"/>
              <a:ext cx="6604332" cy="4118932"/>
              <a:chOff x="0" y="0"/>
              <a:chExt cx="763217" cy="47599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63217" cy="475997"/>
              </a:xfrm>
              <a:custGeom>
                <a:avLst/>
                <a:gdLst/>
                <a:ahLst/>
                <a:cxnLst/>
                <a:rect r="r" b="b" t="t" l="l"/>
                <a:pathLst>
                  <a:path h="475997" w="763217">
                    <a:moveTo>
                      <a:pt x="3126" y="0"/>
                    </a:moveTo>
                    <a:lnTo>
                      <a:pt x="760091" y="0"/>
                    </a:lnTo>
                    <a:cubicBezTo>
                      <a:pt x="761818" y="0"/>
                      <a:pt x="763217" y="1400"/>
                      <a:pt x="763217" y="3126"/>
                    </a:cubicBezTo>
                    <a:lnTo>
                      <a:pt x="763217" y="472871"/>
                    </a:lnTo>
                    <a:cubicBezTo>
                      <a:pt x="763217" y="474597"/>
                      <a:pt x="761818" y="475997"/>
                      <a:pt x="760091" y="475997"/>
                    </a:cubicBezTo>
                    <a:lnTo>
                      <a:pt x="3126" y="475997"/>
                    </a:lnTo>
                    <a:cubicBezTo>
                      <a:pt x="1400" y="475997"/>
                      <a:pt x="0" y="474597"/>
                      <a:pt x="0" y="472871"/>
                    </a:cubicBezTo>
                    <a:lnTo>
                      <a:pt x="0" y="3126"/>
                    </a:lnTo>
                    <a:cubicBezTo>
                      <a:pt x="0" y="1400"/>
                      <a:pt x="1400" y="0"/>
                      <a:pt x="3126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4533" t="-40835" r="-7366" b="-146865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495801" y="5947552"/>
              <a:ext cx="8337516" cy="1116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65"/>
                </a:lnSpc>
                <a:spcBef>
                  <a:spcPct val="0"/>
                </a:spcBef>
              </a:pPr>
              <a:r>
                <a:rPr lang="en-US" b="true" sz="1617">
                  <a:solidFill>
                    <a:srgbClr val="EDEFFA">
                      <a:alpha val="90980"/>
                    </a:srgbClr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CleanWrap Version 1.0 launched August 2026, delivering blazing-fast performance with zero runtime dependencies and a minimal footprint.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614145" y="865797"/>
            <a:ext cx="40415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36932" y="4459087"/>
            <a:ext cx="7942216" cy="3849310"/>
            <a:chOff x="0" y="0"/>
            <a:chExt cx="10589622" cy="513241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8822894" cy="1096609"/>
              <a:chOff x="0" y="0"/>
              <a:chExt cx="3269318" cy="40634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269318" cy="406348"/>
              </a:xfrm>
              <a:custGeom>
                <a:avLst/>
                <a:gdLst/>
                <a:ahLst/>
                <a:cxnLst/>
                <a:rect r="r" b="b" t="t" l="l"/>
                <a:pathLst>
                  <a:path h="406348" w="3269318">
                    <a:moveTo>
                      <a:pt x="3066118" y="0"/>
                    </a:moveTo>
                    <a:cubicBezTo>
                      <a:pt x="3178342" y="0"/>
                      <a:pt x="3269318" y="90964"/>
                      <a:pt x="3269318" y="203174"/>
                    </a:cubicBezTo>
                    <a:cubicBezTo>
                      <a:pt x="3269318" y="315384"/>
                      <a:pt x="3178342" y="406348"/>
                      <a:pt x="3066118" y="406348"/>
                    </a:cubicBezTo>
                    <a:lnTo>
                      <a:pt x="203200" y="406348"/>
                    </a:lnTo>
                    <a:cubicBezTo>
                      <a:pt x="90976" y="406348"/>
                      <a:pt x="0" y="315384"/>
                      <a:pt x="0" y="203174"/>
                    </a:cubicBezTo>
                    <a:cubicBezTo>
                      <a:pt x="0" y="90964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269318" cy="4634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345221"/>
              <a:ext cx="8822894" cy="1096750"/>
              <a:chOff x="0" y="0"/>
              <a:chExt cx="3269318" cy="406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26931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269318">
                    <a:moveTo>
                      <a:pt x="3066118" y="0"/>
                    </a:moveTo>
                    <a:cubicBezTo>
                      <a:pt x="3178342" y="0"/>
                      <a:pt x="3269318" y="90976"/>
                      <a:pt x="3269318" y="203200"/>
                    </a:cubicBezTo>
                    <a:cubicBezTo>
                      <a:pt x="3269318" y="315424"/>
                      <a:pt x="3178342" y="406400"/>
                      <a:pt x="306611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3269318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2690442"/>
              <a:ext cx="8822894" cy="1096750"/>
              <a:chOff x="0" y="0"/>
              <a:chExt cx="3269318" cy="4064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26931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269318">
                    <a:moveTo>
                      <a:pt x="3066118" y="0"/>
                    </a:moveTo>
                    <a:cubicBezTo>
                      <a:pt x="3178342" y="0"/>
                      <a:pt x="3269318" y="90976"/>
                      <a:pt x="3269318" y="203200"/>
                    </a:cubicBezTo>
                    <a:cubicBezTo>
                      <a:pt x="3269318" y="315424"/>
                      <a:pt x="3178342" y="406400"/>
                      <a:pt x="306611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3269318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4035663"/>
              <a:ext cx="8822894" cy="1096750"/>
              <a:chOff x="0" y="0"/>
              <a:chExt cx="3269318" cy="4064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26931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269318">
                    <a:moveTo>
                      <a:pt x="3066118" y="0"/>
                    </a:moveTo>
                    <a:cubicBezTo>
                      <a:pt x="3178342" y="0"/>
                      <a:pt x="3269318" y="90976"/>
                      <a:pt x="3269318" y="203200"/>
                    </a:cubicBezTo>
                    <a:cubicBezTo>
                      <a:pt x="3269318" y="315424"/>
                      <a:pt x="3178342" y="406400"/>
                      <a:pt x="306611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3269318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7"/>
                  </a:lnSpc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539222" y="283092"/>
              <a:ext cx="513986" cy="530566"/>
            </a:xfrm>
            <a:custGeom>
              <a:avLst/>
              <a:gdLst/>
              <a:ahLst/>
              <a:cxnLst/>
              <a:rect r="r" b="b" t="t" l="l"/>
              <a:pathLst>
                <a:path h="530566" w="513986">
                  <a:moveTo>
                    <a:pt x="0" y="0"/>
                  </a:moveTo>
                  <a:lnTo>
                    <a:pt x="513986" y="0"/>
                  </a:lnTo>
                  <a:lnTo>
                    <a:pt x="513986" y="530566"/>
                  </a:lnTo>
                  <a:lnTo>
                    <a:pt x="0" y="53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539222" y="1628313"/>
              <a:ext cx="513986" cy="530566"/>
            </a:xfrm>
            <a:custGeom>
              <a:avLst/>
              <a:gdLst/>
              <a:ahLst/>
              <a:cxnLst/>
              <a:rect r="r" b="b" t="t" l="l"/>
              <a:pathLst>
                <a:path h="530566" w="513986">
                  <a:moveTo>
                    <a:pt x="0" y="0"/>
                  </a:moveTo>
                  <a:lnTo>
                    <a:pt x="513986" y="0"/>
                  </a:lnTo>
                  <a:lnTo>
                    <a:pt x="513986" y="530566"/>
                  </a:lnTo>
                  <a:lnTo>
                    <a:pt x="0" y="53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 rot="0">
              <a:off x="1372248" y="345756"/>
              <a:ext cx="9217373" cy="393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84"/>
                </a:lnSpc>
                <a:spcBef>
                  <a:spcPct val="0"/>
                </a:spcBef>
              </a:pPr>
              <a:r>
                <a:rPr lang="en-US" b="true" sz="170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Version 1.0 stable — released August 2026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372248" y="1690977"/>
              <a:ext cx="9217373" cy="393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84"/>
                </a:lnSpc>
                <a:spcBef>
                  <a:spcPct val="0"/>
                </a:spcBef>
              </a:pPr>
              <a:r>
                <a:rPr lang="en-US" b="true" sz="170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 MB install size — 1,500 files per second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364514" y="3045723"/>
              <a:ext cx="9217373" cy="373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68"/>
                </a:lnSpc>
                <a:spcBef>
                  <a:spcPct val="0"/>
                </a:spcBef>
              </a:pPr>
              <a:r>
                <a:rPr lang="en-US" b="true" sz="162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9+ categories — hundreds of extensions supported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372248" y="4381419"/>
              <a:ext cx="9217373" cy="393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84"/>
                </a:lnSpc>
                <a:spcBef>
                  <a:spcPct val="0"/>
                </a:spcBef>
              </a:pPr>
              <a:r>
                <a:rPr lang="en-US" b="true" sz="170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100% free &amp; open source — MIT Licensed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539222" y="2973534"/>
              <a:ext cx="513986" cy="530566"/>
            </a:xfrm>
            <a:custGeom>
              <a:avLst/>
              <a:gdLst/>
              <a:ahLst/>
              <a:cxnLst/>
              <a:rect r="r" b="b" t="t" l="l"/>
              <a:pathLst>
                <a:path h="530566" w="513986">
                  <a:moveTo>
                    <a:pt x="0" y="0"/>
                  </a:moveTo>
                  <a:lnTo>
                    <a:pt x="513986" y="0"/>
                  </a:lnTo>
                  <a:lnTo>
                    <a:pt x="513986" y="530566"/>
                  </a:lnTo>
                  <a:lnTo>
                    <a:pt x="0" y="53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539222" y="4318755"/>
              <a:ext cx="513986" cy="530566"/>
            </a:xfrm>
            <a:custGeom>
              <a:avLst/>
              <a:gdLst/>
              <a:ahLst/>
              <a:cxnLst/>
              <a:rect r="r" b="b" t="t" l="l"/>
              <a:pathLst>
                <a:path h="530566" w="513986">
                  <a:moveTo>
                    <a:pt x="0" y="0"/>
                  </a:moveTo>
                  <a:lnTo>
                    <a:pt x="513986" y="0"/>
                  </a:lnTo>
                  <a:lnTo>
                    <a:pt x="513986" y="530566"/>
                  </a:lnTo>
                  <a:lnTo>
                    <a:pt x="0" y="53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12556" y="376915"/>
            <a:ext cx="2035769" cy="1034914"/>
            <a:chOff x="0" y="0"/>
            <a:chExt cx="2714358" cy="137988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38990" cy="1379886"/>
            </a:xfrm>
            <a:custGeom>
              <a:avLst/>
              <a:gdLst/>
              <a:ahLst/>
              <a:cxnLst/>
              <a:rect r="r" b="b" t="t" l="l"/>
              <a:pathLst>
                <a:path h="1379886" w="2538990">
                  <a:moveTo>
                    <a:pt x="0" y="0"/>
                  </a:moveTo>
                  <a:lnTo>
                    <a:pt x="2538990" y="0"/>
                  </a:lnTo>
                  <a:lnTo>
                    <a:pt x="2538990" y="1379886"/>
                  </a:lnTo>
                  <a:lnTo>
                    <a:pt x="0" y="1379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8424" t="-53641" r="-31812" b="-421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380560" y="795793"/>
              <a:ext cx="2333798" cy="374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5"/>
                </a:lnSpc>
                <a:spcBef>
                  <a:spcPct val="0"/>
                </a:spcBef>
              </a:pPr>
              <a:r>
                <a:rPr lang="en-US" sz="1696" spc="549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ARENA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C59">
                <a:alpha val="100000"/>
              </a:srgbClr>
            </a:gs>
            <a:gs pos="100000">
              <a:srgbClr val="53008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614150" y="1116878"/>
            <a:ext cx="7062780" cy="2461349"/>
            <a:chOff x="0" y="0"/>
            <a:chExt cx="1860156" cy="6482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0156" cy="648256"/>
            </a:xfrm>
            <a:custGeom>
              <a:avLst/>
              <a:gdLst/>
              <a:ahLst/>
              <a:cxnLst/>
              <a:rect r="r" b="b" t="t" l="l"/>
              <a:pathLst>
                <a:path h="648256" w="1860156">
                  <a:moveTo>
                    <a:pt x="38366" y="0"/>
                  </a:moveTo>
                  <a:lnTo>
                    <a:pt x="1821791" y="0"/>
                  </a:lnTo>
                  <a:cubicBezTo>
                    <a:pt x="1842979" y="0"/>
                    <a:pt x="1860156" y="17177"/>
                    <a:pt x="1860156" y="38366"/>
                  </a:cubicBezTo>
                  <a:lnTo>
                    <a:pt x="1860156" y="609891"/>
                  </a:lnTo>
                  <a:cubicBezTo>
                    <a:pt x="1860156" y="631080"/>
                    <a:pt x="1842979" y="648256"/>
                    <a:pt x="1821791" y="648256"/>
                  </a:cubicBezTo>
                  <a:lnTo>
                    <a:pt x="38366" y="648256"/>
                  </a:lnTo>
                  <a:cubicBezTo>
                    <a:pt x="17177" y="648256"/>
                    <a:pt x="0" y="631080"/>
                    <a:pt x="0" y="609891"/>
                  </a:cubicBezTo>
                  <a:lnTo>
                    <a:pt x="0" y="38366"/>
                  </a:lnTo>
                  <a:cubicBezTo>
                    <a:pt x="0" y="17177"/>
                    <a:pt x="17177" y="0"/>
                    <a:pt x="38366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860156" cy="70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614150" y="3912826"/>
            <a:ext cx="7062780" cy="2461349"/>
            <a:chOff x="0" y="0"/>
            <a:chExt cx="1860156" cy="6482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0156" cy="648256"/>
            </a:xfrm>
            <a:custGeom>
              <a:avLst/>
              <a:gdLst/>
              <a:ahLst/>
              <a:cxnLst/>
              <a:rect r="r" b="b" t="t" l="l"/>
              <a:pathLst>
                <a:path h="648256" w="1860156">
                  <a:moveTo>
                    <a:pt x="38366" y="0"/>
                  </a:moveTo>
                  <a:lnTo>
                    <a:pt x="1821791" y="0"/>
                  </a:lnTo>
                  <a:cubicBezTo>
                    <a:pt x="1842979" y="0"/>
                    <a:pt x="1860156" y="17177"/>
                    <a:pt x="1860156" y="38366"/>
                  </a:cubicBezTo>
                  <a:lnTo>
                    <a:pt x="1860156" y="609891"/>
                  </a:lnTo>
                  <a:cubicBezTo>
                    <a:pt x="1860156" y="631080"/>
                    <a:pt x="1842979" y="648256"/>
                    <a:pt x="1821791" y="648256"/>
                  </a:cubicBezTo>
                  <a:lnTo>
                    <a:pt x="38366" y="648256"/>
                  </a:lnTo>
                  <a:cubicBezTo>
                    <a:pt x="17177" y="648256"/>
                    <a:pt x="0" y="631080"/>
                    <a:pt x="0" y="609891"/>
                  </a:cubicBezTo>
                  <a:lnTo>
                    <a:pt x="0" y="38366"/>
                  </a:lnTo>
                  <a:cubicBezTo>
                    <a:pt x="0" y="17177"/>
                    <a:pt x="17177" y="0"/>
                    <a:pt x="38366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860156" cy="70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14150" y="6707549"/>
            <a:ext cx="7062780" cy="2461349"/>
            <a:chOff x="0" y="0"/>
            <a:chExt cx="1860156" cy="6482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0156" cy="648256"/>
            </a:xfrm>
            <a:custGeom>
              <a:avLst/>
              <a:gdLst/>
              <a:ahLst/>
              <a:cxnLst/>
              <a:rect r="r" b="b" t="t" l="l"/>
              <a:pathLst>
                <a:path h="648256" w="1860156">
                  <a:moveTo>
                    <a:pt x="38366" y="0"/>
                  </a:moveTo>
                  <a:lnTo>
                    <a:pt x="1821791" y="0"/>
                  </a:lnTo>
                  <a:cubicBezTo>
                    <a:pt x="1842979" y="0"/>
                    <a:pt x="1860156" y="17177"/>
                    <a:pt x="1860156" y="38366"/>
                  </a:cubicBezTo>
                  <a:lnTo>
                    <a:pt x="1860156" y="609891"/>
                  </a:lnTo>
                  <a:cubicBezTo>
                    <a:pt x="1860156" y="631080"/>
                    <a:pt x="1842979" y="648256"/>
                    <a:pt x="1821791" y="648256"/>
                  </a:cubicBezTo>
                  <a:lnTo>
                    <a:pt x="38366" y="648256"/>
                  </a:lnTo>
                  <a:cubicBezTo>
                    <a:pt x="17177" y="648256"/>
                    <a:pt x="0" y="631080"/>
                    <a:pt x="0" y="609891"/>
                  </a:cubicBezTo>
                  <a:lnTo>
                    <a:pt x="0" y="38366"/>
                  </a:lnTo>
                  <a:cubicBezTo>
                    <a:pt x="0" y="17177"/>
                    <a:pt x="17177" y="0"/>
                    <a:pt x="383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860156" cy="70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614145" y="837222"/>
            <a:ext cx="404158" cy="32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15"/>
              </a:lnSpc>
              <a:spcBef>
                <a:spcPct val="0"/>
              </a:spcBef>
            </a:pPr>
            <a:r>
              <a:rPr lang="en-US" sz="17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9950" y="1895480"/>
            <a:ext cx="6602248" cy="107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743"/>
              </a:lnSpc>
              <a:spcBef>
                <a:spcPct val="0"/>
              </a:spcBef>
            </a:pPr>
            <a:r>
              <a:rPr lang="en-US" sz="6245">
                <a:solidFill>
                  <a:srgbClr val="FFFFFF"/>
                </a:solidFill>
                <a:latin typeface="Barabara"/>
                <a:ea typeface="Barabara"/>
                <a:cs typeface="Barabara"/>
                <a:sym typeface="Barabara"/>
              </a:rPr>
              <a:t>SUPPORTED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9950" y="3027001"/>
            <a:ext cx="6934200" cy="108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83"/>
              </a:lnSpc>
              <a:spcBef>
                <a:spcPct val="0"/>
              </a:spcBef>
            </a:pPr>
            <a:r>
              <a:rPr lang="en-US" sz="6345">
                <a:solidFill>
                  <a:srgbClr val="FFFFFF"/>
                </a:solidFill>
                <a:latin typeface="Barabara"/>
                <a:ea typeface="Barabara"/>
                <a:cs typeface="Barabara"/>
                <a:sym typeface="Barabara"/>
              </a:rPr>
              <a:t>FILE TYPES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9950" y="7393760"/>
            <a:ext cx="5058726" cy="160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2"/>
              </a:lnSpc>
            </a:pPr>
            <a:r>
              <a:rPr lang="en-US" sz="2419">
                <a:solidFill>
                  <a:srgbClr val="EDEFFA"/>
                </a:solidFill>
                <a:latin typeface="Canva Sans"/>
                <a:ea typeface="Canva Sans"/>
                <a:cs typeface="Canva Sans"/>
                <a:sym typeface="Canva Sans"/>
              </a:rPr>
              <a:t>CleanWrap recognizes hundreds of file extensions across 9 smart categories — all sorted automatically in under a second.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26651" y="4675582"/>
            <a:ext cx="6187499" cy="222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3747" spc="67">
                <a:solidFill>
                  <a:srgbClr val="EDEFFA"/>
                </a:solidFill>
                <a:latin typeface="Playwrite US Modern Light"/>
                <a:ea typeface="Playwrite US Modern Light"/>
                <a:cs typeface="Playwrite US Modern Light"/>
                <a:sym typeface="Playwrite US Modern Light"/>
              </a:rPr>
              <a:t>It Supports Almost Anything we use </a:t>
            </a:r>
          </a:p>
          <a:p>
            <a:pPr algn="l" marL="0" indent="0" lvl="0">
              <a:lnSpc>
                <a:spcPts val="5246"/>
              </a:lnSpc>
              <a:spcBef>
                <a:spcPct val="0"/>
              </a:spcBef>
            </a:pPr>
            <a:r>
              <a:rPr lang="en-US" sz="3747">
                <a:solidFill>
                  <a:srgbClr val="EDEFFA"/>
                </a:solidFill>
                <a:latin typeface="Playwrite US Modern Light"/>
                <a:ea typeface="Playwrite US Modern Light"/>
                <a:cs typeface="Playwrite US Modern Light"/>
                <a:sym typeface="Playwrite US Modern Light"/>
              </a:rPr>
              <a:t>in our Daily Life!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260208" y="1621864"/>
            <a:ext cx="1358228" cy="1528962"/>
          </a:xfrm>
          <a:custGeom>
            <a:avLst/>
            <a:gdLst/>
            <a:ahLst/>
            <a:cxnLst/>
            <a:rect r="r" b="b" t="t" l="l"/>
            <a:pathLst>
              <a:path h="1528962" w="1358228">
                <a:moveTo>
                  <a:pt x="0" y="0"/>
                </a:moveTo>
                <a:lnTo>
                  <a:pt x="1358228" y="0"/>
                </a:lnTo>
                <a:lnTo>
                  <a:pt x="1358228" y="1528962"/>
                </a:lnTo>
                <a:lnTo>
                  <a:pt x="0" y="1528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144000" y="4253998"/>
            <a:ext cx="1543861" cy="1777779"/>
          </a:xfrm>
          <a:custGeom>
            <a:avLst/>
            <a:gdLst/>
            <a:ahLst/>
            <a:cxnLst/>
            <a:rect r="r" b="b" t="t" l="l"/>
            <a:pathLst>
              <a:path h="1777779" w="1543861">
                <a:moveTo>
                  <a:pt x="0" y="0"/>
                </a:moveTo>
                <a:lnTo>
                  <a:pt x="1543861" y="0"/>
                </a:lnTo>
                <a:lnTo>
                  <a:pt x="1543861" y="1777780"/>
                </a:lnTo>
                <a:lnTo>
                  <a:pt x="0" y="17777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97547" y="6984650"/>
            <a:ext cx="1520889" cy="1907146"/>
          </a:xfrm>
          <a:custGeom>
            <a:avLst/>
            <a:gdLst/>
            <a:ahLst/>
            <a:cxnLst/>
            <a:rect r="r" b="b" t="t" l="l"/>
            <a:pathLst>
              <a:path h="1907146" w="1520889">
                <a:moveTo>
                  <a:pt x="0" y="0"/>
                </a:moveTo>
                <a:lnTo>
                  <a:pt x="1520889" y="0"/>
                </a:lnTo>
                <a:lnTo>
                  <a:pt x="1520889" y="1907147"/>
                </a:lnTo>
                <a:lnTo>
                  <a:pt x="0" y="1907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626971" y="2008123"/>
            <a:ext cx="4049959" cy="65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1"/>
              </a:lnSpc>
              <a:spcBef>
                <a:spcPct val="0"/>
              </a:spcBef>
            </a:pPr>
            <a:r>
              <a:rPr lang="en-US" b="true" sz="359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Media Files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02431" y="4798956"/>
            <a:ext cx="4049959" cy="59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11"/>
              </a:lnSpc>
              <a:spcBef>
                <a:spcPct val="0"/>
              </a:spcBef>
            </a:pPr>
            <a:r>
              <a:rPr lang="en-US" b="true" sz="329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Documents &amp; Data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02431" y="7593374"/>
            <a:ext cx="5486699" cy="59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11"/>
              </a:lnSpc>
              <a:spcBef>
                <a:spcPct val="0"/>
              </a:spcBef>
            </a:pPr>
            <a:r>
              <a:rPr lang="en-US" b="true" sz="329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&amp; Code Files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62066" y="260310"/>
            <a:ext cx="2035769" cy="1034914"/>
            <a:chOff x="0" y="0"/>
            <a:chExt cx="2714358" cy="13798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38990" cy="1379886"/>
            </a:xfrm>
            <a:custGeom>
              <a:avLst/>
              <a:gdLst/>
              <a:ahLst/>
              <a:cxnLst/>
              <a:rect r="r" b="b" t="t" l="l"/>
              <a:pathLst>
                <a:path h="1379886" w="2538990">
                  <a:moveTo>
                    <a:pt x="0" y="0"/>
                  </a:moveTo>
                  <a:lnTo>
                    <a:pt x="2538990" y="0"/>
                  </a:lnTo>
                  <a:lnTo>
                    <a:pt x="2538990" y="1379886"/>
                  </a:lnTo>
                  <a:lnTo>
                    <a:pt x="0" y="1379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8424" t="-53641" r="-31812" b="-421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380560" y="795793"/>
              <a:ext cx="2333798" cy="374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5"/>
                </a:lnSpc>
                <a:spcBef>
                  <a:spcPct val="0"/>
                </a:spcBef>
              </a:pPr>
              <a:r>
                <a:rPr lang="en-US" sz="1696" spc="549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ARENA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081302"/>
            <a:ext cx="16319769" cy="3589122"/>
          </a:xfrm>
          <a:custGeom>
            <a:avLst/>
            <a:gdLst/>
            <a:ahLst/>
            <a:cxnLst/>
            <a:rect r="r" b="b" t="t" l="l"/>
            <a:pathLst>
              <a:path h="3589122" w="16319769">
                <a:moveTo>
                  <a:pt x="0" y="0"/>
                </a:moveTo>
                <a:lnTo>
                  <a:pt x="16319769" y="0"/>
                </a:lnTo>
                <a:lnTo>
                  <a:pt x="16319769" y="3589122"/>
                </a:lnTo>
                <a:lnTo>
                  <a:pt x="0" y="3589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77" t="-68829" r="-5512" b="-604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14145" y="856272"/>
            <a:ext cx="404158" cy="25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80"/>
              </a:lnSpc>
              <a:spcBef>
                <a:spcPct val="0"/>
              </a:spcBef>
            </a:pPr>
            <a:r>
              <a:rPr lang="en-US" sz="148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57496" y="1209499"/>
            <a:ext cx="8973919" cy="73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30"/>
              </a:lnSpc>
              <a:spcBef>
                <a:spcPct val="0"/>
              </a:spcBef>
            </a:pPr>
            <a:r>
              <a:rPr lang="en-US" sz="43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CLEANWRAP 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29654" y="2290509"/>
            <a:ext cx="11191422" cy="1180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7"/>
              </a:lnSpc>
              <a:spcBef>
                <a:spcPct val="0"/>
              </a:spcBef>
            </a:pPr>
            <a:r>
              <a:rPr lang="en-US" sz="2283">
                <a:solidFill>
                  <a:srgbClr val="000000"/>
                </a:solidFill>
                <a:latin typeface="Playwrite US Modern Light"/>
                <a:ea typeface="Playwrite US Modern Light"/>
                <a:cs typeface="Playwrite US Modern Light"/>
                <a:sym typeface="Playwrite US Modern Light"/>
              </a:rPr>
              <a:t>CleanWrap runs a deterministic five-step pipeline — scan, detect, hash, move, and log — completing the entire process in under a second. No configuration needed, no files deleted, and no data lost.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190" y="4500973"/>
            <a:ext cx="13486570" cy="119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0"/>
              </a:lnSpc>
            </a:pPr>
            <a:r>
              <a:rPr lang="en-US" sz="43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JUST        STEPS, </a:t>
            </a:r>
          </a:p>
          <a:p>
            <a:pPr algn="ctr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507">
                <a:solidFill>
                  <a:srgbClr val="000000"/>
                </a:solidFill>
                <a:latin typeface="Finger Paint"/>
                <a:ea typeface="Finger Paint"/>
                <a:cs typeface="Finger Paint"/>
                <a:sym typeface="Finger Paint"/>
              </a:rPr>
              <a:t>AND THOUSANDS OF MESSEDUP FOLDERS ORGANIZED WITHIN A SECOND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38405" y="4195342"/>
            <a:ext cx="8973919" cy="12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39"/>
              </a:lnSpc>
              <a:spcBef>
                <a:spcPct val="0"/>
              </a:spcBef>
            </a:pPr>
            <a:r>
              <a:rPr lang="en-US" sz="7599">
                <a:solidFill>
                  <a:srgbClr val="63A1E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08523" y="534574"/>
            <a:ext cx="1407746" cy="719596"/>
          </a:xfrm>
          <a:custGeom>
            <a:avLst/>
            <a:gdLst/>
            <a:ahLst/>
            <a:cxnLst/>
            <a:rect r="r" b="b" t="t" l="l"/>
            <a:pathLst>
              <a:path h="719596" w="1407746">
                <a:moveTo>
                  <a:pt x="0" y="0"/>
                </a:moveTo>
                <a:lnTo>
                  <a:pt x="1407746" y="0"/>
                </a:lnTo>
                <a:lnTo>
                  <a:pt x="1407746" y="719596"/>
                </a:lnTo>
                <a:lnTo>
                  <a:pt x="0" y="7195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</a:blip>
            <a:stretch>
              <a:fillRect l="-45384" t="-64863" r="-42508" b="-64871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C59">
                <a:alpha val="100000"/>
              </a:srgbClr>
            </a:gs>
            <a:gs pos="100000">
              <a:srgbClr val="53008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1116878"/>
            <a:ext cx="7530841" cy="9638724"/>
            <a:chOff x="0" y="0"/>
            <a:chExt cx="690356" cy="883587"/>
          </a:xfrm>
        </p:grpSpPr>
        <p:sp>
          <p:nvSpPr>
            <p:cNvPr name="Freeform 7" id="7"/>
            <p:cNvSpPr/>
            <p:nvPr/>
          </p:nvSpPr>
          <p:spPr>
            <a:xfrm flipH="false" flipV="false" rot="-30000">
              <a:off x="-3440" y="-2593"/>
              <a:ext cx="697237" cy="888774"/>
            </a:xfrm>
            <a:custGeom>
              <a:avLst/>
              <a:gdLst/>
              <a:ahLst/>
              <a:cxnLst/>
              <a:rect r="r" b="b" t="t" l="l"/>
              <a:pathLst>
                <a:path h="888774" w="697237">
                  <a:moveTo>
                    <a:pt x="53568" y="1"/>
                  </a:moveTo>
                  <a:lnTo>
                    <a:pt x="651379" y="5218"/>
                  </a:lnTo>
                  <a:cubicBezTo>
                    <a:pt x="676927" y="5441"/>
                    <a:pt x="697458" y="26333"/>
                    <a:pt x="697235" y="51882"/>
                  </a:cubicBezTo>
                  <a:lnTo>
                    <a:pt x="690331" y="842916"/>
                  </a:lnTo>
                  <a:cubicBezTo>
                    <a:pt x="690108" y="868464"/>
                    <a:pt x="669217" y="888995"/>
                    <a:pt x="643668" y="888772"/>
                  </a:cubicBezTo>
                  <a:lnTo>
                    <a:pt x="45857" y="883555"/>
                  </a:lnTo>
                  <a:cubicBezTo>
                    <a:pt x="20309" y="883332"/>
                    <a:pt x="-221" y="862440"/>
                    <a:pt x="2" y="836891"/>
                  </a:cubicBezTo>
                  <a:lnTo>
                    <a:pt x="6905" y="45857"/>
                  </a:lnTo>
                  <a:cubicBezTo>
                    <a:pt x="7128" y="20309"/>
                    <a:pt x="28020" y="-222"/>
                    <a:pt x="53568" y="1"/>
                  </a:cubicBezTo>
                  <a:close/>
                </a:path>
              </a:pathLst>
            </a:custGeom>
            <a:blipFill>
              <a:blip r:embed="rId4"/>
              <a:stretch>
                <a:fillRect l="-175" t="-12979" r="-175" b="-1297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831506" y="3385846"/>
            <a:ext cx="6624988" cy="4248273"/>
            <a:chOff x="0" y="0"/>
            <a:chExt cx="8833317" cy="5664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33317" cy="5664365"/>
            </a:xfrm>
            <a:custGeom>
              <a:avLst/>
              <a:gdLst/>
              <a:ahLst/>
              <a:cxnLst/>
              <a:rect r="r" b="b" t="t" l="l"/>
              <a:pathLst>
                <a:path h="5664365" w="8833317">
                  <a:moveTo>
                    <a:pt x="0" y="0"/>
                  </a:moveTo>
                  <a:lnTo>
                    <a:pt x="8833317" y="0"/>
                  </a:lnTo>
                  <a:lnTo>
                    <a:pt x="8833317" y="5664365"/>
                  </a:lnTo>
                  <a:lnTo>
                    <a:pt x="0" y="5664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1168084" y="388956"/>
              <a:ext cx="6535531" cy="4076024"/>
              <a:chOff x="0" y="0"/>
              <a:chExt cx="763217" cy="47599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63217" cy="475997"/>
              </a:xfrm>
              <a:custGeom>
                <a:avLst/>
                <a:gdLst/>
                <a:ahLst/>
                <a:cxnLst/>
                <a:rect r="r" b="b" t="t" l="l"/>
                <a:pathLst>
                  <a:path h="475997" w="763217">
                    <a:moveTo>
                      <a:pt x="3159" y="0"/>
                    </a:moveTo>
                    <a:lnTo>
                      <a:pt x="760059" y="0"/>
                    </a:lnTo>
                    <a:cubicBezTo>
                      <a:pt x="760896" y="0"/>
                      <a:pt x="761700" y="333"/>
                      <a:pt x="762292" y="925"/>
                    </a:cubicBezTo>
                    <a:cubicBezTo>
                      <a:pt x="762885" y="1518"/>
                      <a:pt x="763217" y="2321"/>
                      <a:pt x="763217" y="3159"/>
                    </a:cubicBezTo>
                    <a:lnTo>
                      <a:pt x="763217" y="472838"/>
                    </a:lnTo>
                    <a:cubicBezTo>
                      <a:pt x="763217" y="473676"/>
                      <a:pt x="762885" y="474479"/>
                      <a:pt x="762292" y="475072"/>
                    </a:cubicBezTo>
                    <a:cubicBezTo>
                      <a:pt x="761700" y="475664"/>
                      <a:pt x="760896" y="475997"/>
                      <a:pt x="760059" y="475997"/>
                    </a:cubicBezTo>
                    <a:lnTo>
                      <a:pt x="3159" y="475997"/>
                    </a:lnTo>
                    <a:cubicBezTo>
                      <a:pt x="2321" y="475997"/>
                      <a:pt x="1518" y="475664"/>
                      <a:pt x="925" y="475072"/>
                    </a:cubicBezTo>
                    <a:cubicBezTo>
                      <a:pt x="333" y="474479"/>
                      <a:pt x="0" y="473676"/>
                      <a:pt x="0" y="472838"/>
                    </a:cubicBezTo>
                    <a:lnTo>
                      <a:pt x="0" y="3159"/>
                    </a:lnTo>
                    <a:cubicBezTo>
                      <a:pt x="0" y="2321"/>
                      <a:pt x="333" y="1518"/>
                      <a:pt x="925" y="925"/>
                    </a:cubicBezTo>
                    <a:cubicBezTo>
                      <a:pt x="1518" y="333"/>
                      <a:pt x="2321" y="0"/>
                      <a:pt x="3159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11355" t="-32865" r="-10226" b="-179049"/>
                </a:stretch>
              </a:blip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10079387" y="1544521"/>
            <a:ext cx="7523374" cy="1583723"/>
            <a:chOff x="0" y="0"/>
            <a:chExt cx="10031165" cy="211163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031165" cy="948386"/>
              <a:chOff x="0" y="0"/>
              <a:chExt cx="4298531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2985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298531">
                    <a:moveTo>
                      <a:pt x="4095331" y="0"/>
                    </a:moveTo>
                    <a:cubicBezTo>
                      <a:pt x="4207555" y="0"/>
                      <a:pt x="4298531" y="90976"/>
                      <a:pt x="4298531" y="203200"/>
                    </a:cubicBezTo>
                    <a:cubicBezTo>
                      <a:pt x="4298531" y="315424"/>
                      <a:pt x="4207555" y="406400"/>
                      <a:pt x="40953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4298531" cy="463550"/>
              </a:xfrm>
              <a:prstGeom prst="rect">
                <a:avLst/>
              </a:prstGeom>
            </p:spPr>
            <p:txBody>
              <a:bodyPr anchor="ctr" rtlCol="false" tIns="39122" lIns="39122" bIns="39122" rIns="39122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163244"/>
              <a:ext cx="10031165" cy="948386"/>
              <a:chOff x="0" y="0"/>
              <a:chExt cx="4298531" cy="406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2985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298531">
                    <a:moveTo>
                      <a:pt x="4095331" y="0"/>
                    </a:moveTo>
                    <a:cubicBezTo>
                      <a:pt x="4207555" y="0"/>
                      <a:pt x="4298531" y="90976"/>
                      <a:pt x="4298531" y="203200"/>
                    </a:cubicBezTo>
                    <a:cubicBezTo>
                      <a:pt x="4298531" y="315424"/>
                      <a:pt x="4207555" y="406400"/>
                      <a:pt x="40953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4298531" cy="463550"/>
              </a:xfrm>
              <a:prstGeom prst="rect">
                <a:avLst/>
              </a:prstGeom>
            </p:spPr>
            <p:txBody>
              <a:bodyPr anchor="ctr" rtlCol="false" tIns="39122" lIns="39122" bIns="39122" rIns="39122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466278" y="244796"/>
              <a:ext cx="444456" cy="458793"/>
            </a:xfrm>
            <a:custGeom>
              <a:avLst/>
              <a:gdLst/>
              <a:ahLst/>
              <a:cxnLst/>
              <a:rect r="r" b="b" t="t" l="l"/>
              <a:pathLst>
                <a:path h="458793" w="444456">
                  <a:moveTo>
                    <a:pt x="0" y="0"/>
                  </a:moveTo>
                  <a:lnTo>
                    <a:pt x="444456" y="0"/>
                  </a:lnTo>
                  <a:lnTo>
                    <a:pt x="444456" y="458793"/>
                  </a:lnTo>
                  <a:lnTo>
                    <a:pt x="0" y="458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66278" y="1408041"/>
              <a:ext cx="444456" cy="458793"/>
            </a:xfrm>
            <a:custGeom>
              <a:avLst/>
              <a:gdLst/>
              <a:ahLst/>
              <a:cxnLst/>
              <a:rect r="r" b="b" t="t" l="l"/>
              <a:pathLst>
                <a:path h="458793" w="444456">
                  <a:moveTo>
                    <a:pt x="0" y="0"/>
                  </a:moveTo>
                  <a:lnTo>
                    <a:pt x="444456" y="0"/>
                  </a:lnTo>
                  <a:lnTo>
                    <a:pt x="444456" y="458793"/>
                  </a:lnTo>
                  <a:lnTo>
                    <a:pt x="0" y="458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1186616" y="267567"/>
              <a:ext cx="7970481" cy="436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7"/>
                </a:lnSpc>
                <a:spcBef>
                  <a:spcPct val="0"/>
                </a:spcBef>
              </a:pPr>
              <a:r>
                <a:rPr lang="en-US" b="true" sz="190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Automatic file organization — no rules needed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186616" y="1414141"/>
              <a:ext cx="7970481" cy="389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1"/>
                </a:lnSpc>
                <a:spcBef>
                  <a:spcPct val="0"/>
                </a:spcBef>
              </a:pPr>
              <a:r>
                <a:rPr lang="en-US" b="true" sz="169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Smart duplicate detection — heuristics + size checks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4056" y="1494682"/>
            <a:ext cx="7625202" cy="1605158"/>
            <a:chOff x="0" y="0"/>
            <a:chExt cx="10166937" cy="214021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166937" cy="961222"/>
              <a:chOff x="0" y="0"/>
              <a:chExt cx="4298531" cy="406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2985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298531">
                    <a:moveTo>
                      <a:pt x="4095331" y="0"/>
                    </a:moveTo>
                    <a:cubicBezTo>
                      <a:pt x="4207555" y="0"/>
                      <a:pt x="4298531" y="90976"/>
                      <a:pt x="4298531" y="203200"/>
                    </a:cubicBezTo>
                    <a:cubicBezTo>
                      <a:pt x="4298531" y="315424"/>
                      <a:pt x="4207555" y="406400"/>
                      <a:pt x="40953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298531" cy="463550"/>
              </a:xfrm>
              <a:prstGeom prst="rect">
                <a:avLst/>
              </a:prstGeom>
            </p:spPr>
            <p:txBody>
              <a:bodyPr anchor="ctr" rtlCol="false" tIns="39122" lIns="39122" bIns="39122" rIns="39122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1178989"/>
              <a:ext cx="10166937" cy="961222"/>
              <a:chOff x="0" y="0"/>
              <a:chExt cx="4298531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2985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298531">
                    <a:moveTo>
                      <a:pt x="4095331" y="0"/>
                    </a:moveTo>
                    <a:cubicBezTo>
                      <a:pt x="4207555" y="0"/>
                      <a:pt x="4298531" y="90976"/>
                      <a:pt x="4298531" y="203200"/>
                    </a:cubicBezTo>
                    <a:cubicBezTo>
                      <a:pt x="4298531" y="315424"/>
                      <a:pt x="4207555" y="406400"/>
                      <a:pt x="40953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4298531" cy="463550"/>
              </a:xfrm>
              <a:prstGeom prst="rect">
                <a:avLst/>
              </a:prstGeom>
            </p:spPr>
            <p:txBody>
              <a:bodyPr anchor="ctr" rtlCol="false" tIns="39122" lIns="39122" bIns="39122" rIns="39122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202676" y="78930"/>
              <a:ext cx="8390772" cy="779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3"/>
                </a:lnSpc>
                <a:spcBef>
                  <a:spcPct val="0"/>
                </a:spcBef>
              </a:pPr>
              <a:r>
                <a:rPr lang="en-US" b="true" sz="171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Hash-based verification — 64-bit FNV-1a content hashing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202676" y="1246117"/>
              <a:ext cx="8078362" cy="779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3"/>
                </a:lnSpc>
                <a:spcBef>
                  <a:spcPct val="0"/>
                </a:spcBef>
              </a:pPr>
              <a:r>
                <a:rPr lang="en-US" b="true" sz="171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Filename pattern recognition — Windows/browser duplicates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0">
              <a:off x="472589" y="248110"/>
              <a:ext cx="450472" cy="465003"/>
            </a:xfrm>
            <a:custGeom>
              <a:avLst/>
              <a:gdLst/>
              <a:ahLst/>
              <a:cxnLst/>
              <a:rect r="r" b="b" t="t" l="l"/>
              <a:pathLst>
                <a:path h="465003" w="450472">
                  <a:moveTo>
                    <a:pt x="0" y="0"/>
                  </a:moveTo>
                  <a:lnTo>
                    <a:pt x="450472" y="0"/>
                  </a:lnTo>
                  <a:lnTo>
                    <a:pt x="450472" y="465003"/>
                  </a:lnTo>
                  <a:lnTo>
                    <a:pt x="0" y="465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472589" y="1427099"/>
              <a:ext cx="450472" cy="465003"/>
            </a:xfrm>
            <a:custGeom>
              <a:avLst/>
              <a:gdLst/>
              <a:ahLst/>
              <a:cxnLst/>
              <a:rect r="r" b="b" t="t" l="l"/>
              <a:pathLst>
                <a:path h="465003" w="450472">
                  <a:moveTo>
                    <a:pt x="0" y="0"/>
                  </a:moveTo>
                  <a:lnTo>
                    <a:pt x="450472" y="0"/>
                  </a:lnTo>
                  <a:lnTo>
                    <a:pt x="450472" y="465002"/>
                  </a:lnTo>
                  <a:lnTo>
                    <a:pt x="0" y="465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272770" y="7891295"/>
            <a:ext cx="6493873" cy="1367005"/>
            <a:chOff x="0" y="0"/>
            <a:chExt cx="8658497" cy="1822674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8658497" cy="818608"/>
              <a:chOff x="0" y="0"/>
              <a:chExt cx="4298531" cy="406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2985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298531">
                    <a:moveTo>
                      <a:pt x="4095331" y="0"/>
                    </a:moveTo>
                    <a:cubicBezTo>
                      <a:pt x="4207555" y="0"/>
                      <a:pt x="4298531" y="90976"/>
                      <a:pt x="4298531" y="203200"/>
                    </a:cubicBezTo>
                    <a:cubicBezTo>
                      <a:pt x="4298531" y="315424"/>
                      <a:pt x="4207555" y="406400"/>
                      <a:pt x="40953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4298531" cy="463550"/>
              </a:xfrm>
              <a:prstGeom prst="rect">
                <a:avLst/>
              </a:prstGeom>
            </p:spPr>
            <p:txBody>
              <a:bodyPr anchor="ctr" rtlCol="false" tIns="35887" lIns="35887" bIns="35887" rIns="35887"/>
              <a:lstStyle/>
              <a:p>
                <a:pPr algn="ctr" marL="0" indent="0" lvl="0">
                  <a:lnSpc>
                    <a:spcPts val="3077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1004066"/>
              <a:ext cx="8658497" cy="818608"/>
              <a:chOff x="0" y="0"/>
              <a:chExt cx="4298531" cy="406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2985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298531">
                    <a:moveTo>
                      <a:pt x="4095331" y="0"/>
                    </a:moveTo>
                    <a:cubicBezTo>
                      <a:pt x="4207555" y="0"/>
                      <a:pt x="4298531" y="90976"/>
                      <a:pt x="4298531" y="203200"/>
                    </a:cubicBezTo>
                    <a:cubicBezTo>
                      <a:pt x="4298531" y="315424"/>
                      <a:pt x="4207555" y="406400"/>
                      <a:pt x="40953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4298531" cy="463550"/>
              </a:xfrm>
              <a:prstGeom prst="rect">
                <a:avLst/>
              </a:prstGeom>
            </p:spPr>
            <p:txBody>
              <a:bodyPr anchor="ctr" rtlCol="false" tIns="35887" lIns="35887" bIns="35887" rIns="35887"/>
              <a:lstStyle/>
              <a:p>
                <a:pPr algn="ctr" marL="0" indent="0" lvl="0">
                  <a:lnSpc>
                    <a:spcPts val="3077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402472" y="211298"/>
              <a:ext cx="383636" cy="396012"/>
            </a:xfrm>
            <a:custGeom>
              <a:avLst/>
              <a:gdLst/>
              <a:ahLst/>
              <a:cxnLst/>
              <a:rect r="r" b="b" t="t" l="l"/>
              <a:pathLst>
                <a:path h="396012" w="383636">
                  <a:moveTo>
                    <a:pt x="0" y="0"/>
                  </a:moveTo>
                  <a:lnTo>
                    <a:pt x="383637" y="0"/>
                  </a:lnTo>
                  <a:lnTo>
                    <a:pt x="383637" y="396012"/>
                  </a:lnTo>
                  <a:lnTo>
                    <a:pt x="0" y="39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402472" y="1215364"/>
              <a:ext cx="383636" cy="396012"/>
            </a:xfrm>
            <a:custGeom>
              <a:avLst/>
              <a:gdLst/>
              <a:ahLst/>
              <a:cxnLst/>
              <a:rect r="r" b="b" t="t" l="l"/>
              <a:pathLst>
                <a:path h="396012" w="383636">
                  <a:moveTo>
                    <a:pt x="0" y="0"/>
                  </a:moveTo>
                  <a:lnTo>
                    <a:pt x="383637" y="0"/>
                  </a:lnTo>
                  <a:lnTo>
                    <a:pt x="383637" y="396012"/>
                  </a:lnTo>
                  <a:lnTo>
                    <a:pt x="0" y="39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1024239" y="173198"/>
              <a:ext cx="6879798" cy="335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82"/>
                </a:lnSpc>
                <a:spcBef>
                  <a:spcPct val="0"/>
                </a:spcBef>
              </a:pPr>
              <a:r>
                <a:rPr lang="en-US" b="true" sz="1487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Smart folder creation — only when needed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024239" y="1177264"/>
              <a:ext cx="6879798" cy="335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82"/>
                </a:lnSpc>
                <a:spcBef>
                  <a:spcPct val="0"/>
                </a:spcBef>
              </a:pPr>
              <a:r>
                <a:rPr lang="en-US" b="true" sz="1487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Safe file moving — atomic renaming, zero deletions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45007" y="7919870"/>
            <a:ext cx="6850242" cy="1442024"/>
            <a:chOff x="0" y="0"/>
            <a:chExt cx="9133655" cy="1922698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9133655" cy="863532"/>
              <a:chOff x="0" y="0"/>
              <a:chExt cx="4298531" cy="4064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2985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298531">
                    <a:moveTo>
                      <a:pt x="4095331" y="0"/>
                    </a:moveTo>
                    <a:cubicBezTo>
                      <a:pt x="4207555" y="0"/>
                      <a:pt x="4298531" y="90976"/>
                      <a:pt x="4298531" y="203200"/>
                    </a:cubicBezTo>
                    <a:cubicBezTo>
                      <a:pt x="4298531" y="315424"/>
                      <a:pt x="4207555" y="406400"/>
                      <a:pt x="40953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57150"/>
                <a:ext cx="4298531" cy="463550"/>
              </a:xfrm>
              <a:prstGeom prst="rect">
                <a:avLst/>
              </a:prstGeom>
            </p:spPr>
            <p:txBody>
              <a:bodyPr anchor="ctr" rtlCol="false" tIns="35887" lIns="35887" bIns="35887" rIns="35887"/>
              <a:lstStyle/>
              <a:p>
                <a:pPr algn="ctr" marL="0" indent="0" lvl="0">
                  <a:lnSpc>
                    <a:spcPts val="3077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1059166"/>
              <a:ext cx="9133655" cy="863532"/>
              <a:chOff x="0" y="0"/>
              <a:chExt cx="4298531" cy="4064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29853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298531">
                    <a:moveTo>
                      <a:pt x="4095331" y="0"/>
                    </a:moveTo>
                    <a:cubicBezTo>
                      <a:pt x="4207555" y="0"/>
                      <a:pt x="4298531" y="90976"/>
                      <a:pt x="4298531" y="203200"/>
                    </a:cubicBezTo>
                    <a:cubicBezTo>
                      <a:pt x="4298531" y="315424"/>
                      <a:pt x="4207555" y="406400"/>
                      <a:pt x="409533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57150"/>
                <a:ext cx="4298531" cy="463550"/>
              </a:xfrm>
              <a:prstGeom prst="rect">
                <a:avLst/>
              </a:prstGeom>
            </p:spPr>
            <p:txBody>
              <a:bodyPr anchor="ctr" rtlCol="false" tIns="35887" lIns="35887" bIns="35887" rIns="35887"/>
              <a:lstStyle/>
              <a:p>
                <a:pPr algn="ctr" marL="0" indent="0" lvl="0">
                  <a:lnSpc>
                    <a:spcPts val="3077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1080447" y="184794"/>
              <a:ext cx="7257346" cy="351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96"/>
                </a:lnSpc>
                <a:spcBef>
                  <a:spcPct val="0"/>
                </a:spcBef>
              </a:pPr>
              <a:r>
                <a:rPr lang="en-US" b="true" sz="156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Lightweight — no background service, no RAM bloat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080447" y="1243960"/>
              <a:ext cx="7257346" cy="351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96"/>
                </a:lnSpc>
                <a:spcBef>
                  <a:spcPct val="0"/>
                </a:spcBef>
              </a:pPr>
              <a:r>
                <a:rPr lang="en-US" b="true" sz="156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Windows native — pure Win32 &amp; Shell API, no Electron</a:t>
              </a:r>
            </a:p>
          </p:txBody>
        </p:sp>
        <p:sp>
          <p:nvSpPr>
            <p:cNvPr name="Freeform 54" id="54"/>
            <p:cNvSpPr/>
            <p:nvPr/>
          </p:nvSpPr>
          <p:spPr>
            <a:xfrm flipH="false" flipV="false" rot="0">
              <a:off x="424559" y="222894"/>
              <a:ext cx="404689" cy="417744"/>
            </a:xfrm>
            <a:custGeom>
              <a:avLst/>
              <a:gdLst/>
              <a:ahLst/>
              <a:cxnLst/>
              <a:rect r="r" b="b" t="t" l="l"/>
              <a:pathLst>
                <a:path h="417744" w="404689">
                  <a:moveTo>
                    <a:pt x="0" y="0"/>
                  </a:moveTo>
                  <a:lnTo>
                    <a:pt x="404690" y="0"/>
                  </a:lnTo>
                  <a:lnTo>
                    <a:pt x="404690" y="417744"/>
                  </a:lnTo>
                  <a:lnTo>
                    <a:pt x="0" y="417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424559" y="1282060"/>
              <a:ext cx="404689" cy="417744"/>
            </a:xfrm>
            <a:custGeom>
              <a:avLst/>
              <a:gdLst/>
              <a:ahLst/>
              <a:cxnLst/>
              <a:rect r="r" b="b" t="t" l="l"/>
              <a:pathLst>
                <a:path h="417744" w="404689">
                  <a:moveTo>
                    <a:pt x="0" y="0"/>
                  </a:moveTo>
                  <a:lnTo>
                    <a:pt x="404690" y="0"/>
                  </a:lnTo>
                  <a:lnTo>
                    <a:pt x="404690" y="417744"/>
                  </a:lnTo>
                  <a:lnTo>
                    <a:pt x="0" y="417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16614145" y="865797"/>
            <a:ext cx="404158" cy="20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2"/>
              </a:lnSpc>
              <a:spcBef>
                <a:spcPct val="0"/>
              </a:spcBef>
            </a:pPr>
            <a:r>
              <a:rPr lang="en-US" sz="120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07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975355" y="5764790"/>
            <a:ext cx="14550926" cy="148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81"/>
              </a:lnSpc>
              <a:spcBef>
                <a:spcPct val="0"/>
              </a:spcBef>
            </a:pPr>
            <a:r>
              <a:rPr lang="en-US" sz="8629" spc="37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Key Features - CleanWrap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614056" y="38482"/>
            <a:ext cx="2035769" cy="1034914"/>
            <a:chOff x="0" y="0"/>
            <a:chExt cx="2714358" cy="137988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38990" cy="1379886"/>
            </a:xfrm>
            <a:custGeom>
              <a:avLst/>
              <a:gdLst/>
              <a:ahLst/>
              <a:cxnLst/>
              <a:rect r="r" b="b" t="t" l="l"/>
              <a:pathLst>
                <a:path h="1379886" w="2538990">
                  <a:moveTo>
                    <a:pt x="0" y="0"/>
                  </a:moveTo>
                  <a:lnTo>
                    <a:pt x="2538990" y="0"/>
                  </a:lnTo>
                  <a:lnTo>
                    <a:pt x="2538990" y="1379886"/>
                  </a:lnTo>
                  <a:lnTo>
                    <a:pt x="0" y="1379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424" t="-53641" r="-31812" b="-4213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 rot="0">
              <a:off x="380560" y="795793"/>
              <a:ext cx="2333798" cy="374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5"/>
                </a:lnSpc>
                <a:spcBef>
                  <a:spcPct val="0"/>
                </a:spcBef>
              </a:pPr>
              <a:r>
                <a:rPr lang="en-US" sz="1696" spc="549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ARENA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525093" y="1772267"/>
            <a:ext cx="4660988" cy="672312"/>
            <a:chOff x="0" y="0"/>
            <a:chExt cx="281748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17482" cy="406400"/>
            </a:xfrm>
            <a:custGeom>
              <a:avLst/>
              <a:gdLst/>
              <a:ahLst/>
              <a:cxnLst/>
              <a:rect r="r" b="b" t="t" l="l"/>
              <a:pathLst>
                <a:path h="406400" w="2817482">
                  <a:moveTo>
                    <a:pt x="2614282" y="0"/>
                  </a:moveTo>
                  <a:cubicBezTo>
                    <a:pt x="2726506" y="0"/>
                    <a:pt x="2817482" y="90976"/>
                    <a:pt x="2817482" y="203200"/>
                  </a:cubicBezTo>
                  <a:cubicBezTo>
                    <a:pt x="2817482" y="315424"/>
                    <a:pt x="2726506" y="406400"/>
                    <a:pt x="261428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C59">
                    <a:alpha val="100000"/>
                  </a:srgbClr>
                </a:gs>
                <a:gs pos="100000">
                  <a:srgbClr val="53008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817482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25093" y="6297729"/>
            <a:ext cx="5064037" cy="730448"/>
            <a:chOff x="0" y="0"/>
            <a:chExt cx="2817482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7482" cy="406400"/>
            </a:xfrm>
            <a:custGeom>
              <a:avLst/>
              <a:gdLst/>
              <a:ahLst/>
              <a:cxnLst/>
              <a:rect r="r" b="b" t="t" l="l"/>
              <a:pathLst>
                <a:path h="406400" w="2817482">
                  <a:moveTo>
                    <a:pt x="2614282" y="0"/>
                  </a:moveTo>
                  <a:cubicBezTo>
                    <a:pt x="2726506" y="0"/>
                    <a:pt x="2817482" y="90976"/>
                    <a:pt x="2817482" y="203200"/>
                  </a:cubicBezTo>
                  <a:cubicBezTo>
                    <a:pt x="2817482" y="315424"/>
                    <a:pt x="2726506" y="406400"/>
                    <a:pt x="261428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C59">
                    <a:alpha val="100000"/>
                  </a:srgbClr>
                </a:gs>
                <a:gs pos="100000">
                  <a:srgbClr val="53008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817482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862165" y="6471265"/>
            <a:ext cx="315075" cy="325239"/>
          </a:xfrm>
          <a:custGeom>
            <a:avLst/>
            <a:gdLst/>
            <a:ahLst/>
            <a:cxnLst/>
            <a:rect r="r" b="b" t="t" l="l"/>
            <a:pathLst>
              <a:path h="325239" w="315075">
                <a:moveTo>
                  <a:pt x="0" y="0"/>
                </a:moveTo>
                <a:lnTo>
                  <a:pt x="315075" y="0"/>
                </a:lnTo>
                <a:lnTo>
                  <a:pt x="315075" y="325239"/>
                </a:lnTo>
                <a:lnTo>
                  <a:pt x="0" y="32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1862165" y="1945803"/>
            <a:ext cx="315075" cy="325239"/>
          </a:xfrm>
          <a:custGeom>
            <a:avLst/>
            <a:gdLst/>
            <a:ahLst/>
            <a:cxnLst/>
            <a:rect r="r" b="b" t="t" l="l"/>
            <a:pathLst>
              <a:path h="325239" w="315075">
                <a:moveTo>
                  <a:pt x="0" y="0"/>
                </a:moveTo>
                <a:lnTo>
                  <a:pt x="315075" y="0"/>
                </a:lnTo>
                <a:lnTo>
                  <a:pt x="315075" y="325239"/>
                </a:lnTo>
                <a:lnTo>
                  <a:pt x="0" y="32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7807422" y="5893096"/>
            <a:ext cx="3070011" cy="3365204"/>
          </a:xfrm>
          <a:custGeom>
            <a:avLst/>
            <a:gdLst/>
            <a:ahLst/>
            <a:cxnLst/>
            <a:rect r="r" b="b" t="t" l="l"/>
            <a:pathLst>
              <a:path h="3365204" w="3070011">
                <a:moveTo>
                  <a:pt x="0" y="0"/>
                </a:moveTo>
                <a:lnTo>
                  <a:pt x="3070011" y="0"/>
                </a:lnTo>
                <a:lnTo>
                  <a:pt x="3070011" y="3365204"/>
                </a:lnTo>
                <a:lnTo>
                  <a:pt x="0" y="3365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66675" cap="sq">
            <a:solidFill>
              <a:srgbClr val="000000"/>
            </a:solidFill>
            <a:prstDash val="sysDot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7678868" y="1772267"/>
            <a:ext cx="3327119" cy="3543134"/>
          </a:xfrm>
          <a:custGeom>
            <a:avLst/>
            <a:gdLst/>
            <a:ahLst/>
            <a:cxnLst/>
            <a:rect r="r" b="b" t="t" l="l"/>
            <a:pathLst>
              <a:path h="3543134" w="3327119">
                <a:moveTo>
                  <a:pt x="0" y="0"/>
                </a:moveTo>
                <a:lnTo>
                  <a:pt x="3327120" y="0"/>
                </a:lnTo>
                <a:lnTo>
                  <a:pt x="3327120" y="3543134"/>
                </a:lnTo>
                <a:lnTo>
                  <a:pt x="0" y="35431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649" t="-3524" r="-91661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614145" y="846747"/>
            <a:ext cx="404158" cy="29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17"/>
              </a:lnSpc>
              <a:spcBef>
                <a:spcPct val="0"/>
              </a:spcBef>
            </a:pPr>
            <a:r>
              <a:rPr lang="en-US" sz="165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09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01054" y="3744128"/>
            <a:ext cx="8354376" cy="3347674"/>
            <a:chOff x="0" y="0"/>
            <a:chExt cx="11139168" cy="446356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1619478" y="1273844"/>
              <a:ext cx="9519690" cy="1525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65"/>
                </a:lnSpc>
                <a:spcBef>
                  <a:spcPct val="0"/>
                </a:spcBef>
              </a:pPr>
              <a:r>
                <a:rPr lang="en-US" sz="6904">
                  <a:solidFill>
                    <a:srgbClr val="000000"/>
                  </a:solidFill>
                  <a:latin typeface="Barabara"/>
                  <a:ea typeface="Barabara"/>
                  <a:cs typeface="Barabara"/>
                  <a:sym typeface="Barabara"/>
                </a:rPr>
                <a:t>HANDLING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2637051"/>
              <a:ext cx="9060080" cy="1826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513"/>
                </a:lnSpc>
                <a:spcBef>
                  <a:spcPct val="0"/>
                </a:spcBef>
              </a:pPr>
              <a:r>
                <a:rPr lang="en-US" sz="8223">
                  <a:solidFill>
                    <a:srgbClr val="000000"/>
                  </a:solidFill>
                  <a:latin typeface="Barabara"/>
                  <a:ea typeface="Barabara"/>
                  <a:cs typeface="Barabara"/>
                  <a:sym typeface="Barabara"/>
                </a:rPr>
                <a:t>EXPLAINED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33350"/>
              <a:ext cx="9519690" cy="1515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25"/>
                </a:lnSpc>
                <a:spcBef>
                  <a:spcPct val="0"/>
                </a:spcBef>
              </a:pPr>
              <a:r>
                <a:rPr lang="en-US" sz="6804">
                  <a:solidFill>
                    <a:srgbClr val="000000"/>
                  </a:solidFill>
                  <a:latin typeface="Barabara"/>
                  <a:ea typeface="Barabara"/>
                  <a:cs typeface="Barabara"/>
                  <a:sym typeface="Barabara"/>
                </a:rPr>
                <a:t>DUPLICATES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366285" y="1898178"/>
            <a:ext cx="3819795" cy="30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1"/>
              </a:lnSpc>
              <a:spcBef>
                <a:spcPct val="0"/>
              </a:spcBef>
            </a:pPr>
            <a:r>
              <a:rPr lang="en-US" b="true" sz="172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Heuristics + Hash Verification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66285" y="6455737"/>
            <a:ext cx="3819795" cy="30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1"/>
              </a:lnSpc>
              <a:spcBef>
                <a:spcPct val="0"/>
              </a:spcBef>
            </a:pPr>
            <a:r>
              <a:rPr lang="en-US" b="true" sz="172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Quarantine &amp; Pattern Recognition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37349" y="2662336"/>
            <a:ext cx="6077668" cy="276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>
                <a:solidFill>
                  <a:srgbClr val="000000"/>
                </a:solidFill>
                <a:latin typeface="Playwrite US Modern Light"/>
                <a:ea typeface="Playwrite US Modern Light"/>
                <a:cs typeface="Playwrite US Modern Light"/>
                <a:sym typeface="Playwrite US Modern Light"/>
              </a:rPr>
              <a:t>CleanWrap first shortlists duplicate candidates using filename heuristics and file size matching — a fast, low-cost pre-screen. Confirmed matches are then verified using 64-bit FNV-1a content hashing, eliminating all false positives before any file is moved.</a:t>
            </a:r>
          </a:p>
          <a:p>
            <a:pPr algn="l" marL="0" indent="0" lvl="0">
              <a:lnSpc>
                <a:spcPts val="221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>
                <a:solidFill>
                  <a:srgbClr val="000000"/>
                </a:solidFill>
                <a:latin typeface="Playwrite US Modern Light"/>
                <a:ea typeface="Playwrite US Modern Light"/>
                <a:cs typeface="Playwrite US Modern Light"/>
                <a:sym typeface="Playwrite US Modern Light"/>
              </a:rPr>
              <a:t>Recognizes common Windows duplicate patterns such as "(1)", "- Copy", and "- Copy (3)". All confirmed duplicates are safely relocated to a quarantine subfolder for easy review — no files are ever permanently deleted.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37349" y="7256777"/>
            <a:ext cx="5854982" cy="18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7"/>
              </a:lnSpc>
              <a:spcBef>
                <a:spcPct val="0"/>
              </a:spcBef>
            </a:pPr>
            <a:r>
              <a:rPr lang="en-US" sz="1776">
                <a:solidFill>
                  <a:srgbClr val="000000"/>
                </a:solidFill>
                <a:latin typeface="Playwrite US Modern Light"/>
                <a:ea typeface="Playwrite US Modern Light"/>
                <a:cs typeface="Playwrite US Modern Light"/>
                <a:sym typeface="Playwrite US Modern Light"/>
              </a:rPr>
              <a:t>Every duplicate move is recorded in the timestamped _CleanWrap.log file, giving users a full audit trail of what was detected, why it was flagged, and exactly where it was moved. Rollback is straightforward using the log as a reference guide.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20684" y="7489973"/>
            <a:ext cx="7828107" cy="69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85"/>
              </a:lnSpc>
              <a:spcBef>
                <a:spcPct val="0"/>
              </a:spcBef>
            </a:pPr>
            <a:r>
              <a:rPr lang="en-US" sz="4061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FNV-1A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52824" y="397283"/>
            <a:ext cx="1407746" cy="719596"/>
          </a:xfrm>
          <a:custGeom>
            <a:avLst/>
            <a:gdLst/>
            <a:ahLst/>
            <a:cxnLst/>
            <a:rect r="r" b="b" t="t" l="l"/>
            <a:pathLst>
              <a:path h="719596" w="1407746">
                <a:moveTo>
                  <a:pt x="0" y="0"/>
                </a:moveTo>
                <a:lnTo>
                  <a:pt x="1407746" y="0"/>
                </a:lnTo>
                <a:lnTo>
                  <a:pt x="1407746" y="719595"/>
                </a:lnTo>
                <a:lnTo>
                  <a:pt x="0" y="719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</a:blip>
            <a:stretch>
              <a:fillRect l="-45384" t="-64863" r="-42508" b="-64871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24580" y="2348381"/>
            <a:ext cx="5724836" cy="6878181"/>
            <a:chOff x="0" y="0"/>
            <a:chExt cx="7633114" cy="917090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7633114" cy="9170908"/>
              <a:chOff x="0" y="0"/>
              <a:chExt cx="1224398" cy="147106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24398" cy="1471069"/>
              </a:xfrm>
              <a:custGeom>
                <a:avLst/>
                <a:gdLst/>
                <a:ahLst/>
                <a:cxnLst/>
                <a:rect r="r" b="b" t="t" l="l"/>
                <a:pathLst>
                  <a:path h="1471069" w="1224398">
                    <a:moveTo>
                      <a:pt x="58286" y="0"/>
                    </a:moveTo>
                    <a:lnTo>
                      <a:pt x="1166111" y="0"/>
                    </a:lnTo>
                    <a:cubicBezTo>
                      <a:pt x="1198302" y="0"/>
                      <a:pt x="1224398" y="26096"/>
                      <a:pt x="1224398" y="58286"/>
                    </a:cubicBezTo>
                    <a:lnTo>
                      <a:pt x="1224398" y="1412783"/>
                    </a:lnTo>
                    <a:cubicBezTo>
                      <a:pt x="1224398" y="1444974"/>
                      <a:pt x="1198302" y="1471069"/>
                      <a:pt x="1166111" y="1471069"/>
                    </a:cubicBezTo>
                    <a:lnTo>
                      <a:pt x="58286" y="1471069"/>
                    </a:lnTo>
                    <a:cubicBezTo>
                      <a:pt x="42828" y="1471069"/>
                      <a:pt x="28003" y="1464929"/>
                      <a:pt x="17072" y="1453998"/>
                    </a:cubicBezTo>
                    <a:cubicBezTo>
                      <a:pt x="6141" y="1443067"/>
                      <a:pt x="0" y="1428242"/>
                      <a:pt x="0" y="1412783"/>
                    </a:cubicBezTo>
                    <a:lnTo>
                      <a:pt x="0" y="58286"/>
                    </a:lnTo>
                    <a:cubicBezTo>
                      <a:pt x="0" y="26096"/>
                      <a:pt x="26096" y="0"/>
                      <a:pt x="5828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224398" cy="15282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054168" y="2366506"/>
              <a:ext cx="6073628" cy="1478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1"/>
                </a:lnSpc>
                <a:spcBef>
                  <a:spcPct val="0"/>
                </a:spcBef>
              </a:pPr>
              <a:r>
                <a:rPr lang="en-US" b="true" sz="3194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Download the Installer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54168" y="393080"/>
              <a:ext cx="2374623" cy="1555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51"/>
                </a:lnSpc>
                <a:spcBef>
                  <a:spcPct val="0"/>
                </a:spcBef>
              </a:pPr>
              <a:r>
                <a:rPr lang="en-US" sz="67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54168" y="4536837"/>
              <a:ext cx="5524778" cy="3424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1"/>
                </a:lnSpc>
              </a:pPr>
              <a:r>
                <a:rPr lang="en-US" sz="1961">
                  <a:solidFill>
                    <a:srgbClr val="000000"/>
                  </a:solidFill>
                  <a:latin typeface="Playwrite US Modern Light"/>
                  <a:ea typeface="Playwrite US Modern Light"/>
                  <a:cs typeface="Playwrite US Modern Light"/>
                  <a:sym typeface="Playwrite US Modern Light"/>
                </a:rPr>
                <a:t>Visit GitHub Releases or the official website and download CleanWrap-Setup-1.0.0.exe. The installer is only ~8 MB with zero runtime dependencies required.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192105" y="2348381"/>
            <a:ext cx="10607005" cy="6909919"/>
          </a:xfrm>
          <a:custGeom>
            <a:avLst/>
            <a:gdLst/>
            <a:ahLst/>
            <a:cxnLst/>
            <a:rect r="r" b="b" t="t" l="l"/>
            <a:pathLst>
              <a:path h="6909919" w="10607005">
                <a:moveTo>
                  <a:pt x="0" y="0"/>
                </a:moveTo>
                <a:lnTo>
                  <a:pt x="10607004" y="0"/>
                </a:lnTo>
                <a:lnTo>
                  <a:pt x="10607004" y="6909919"/>
                </a:lnTo>
                <a:lnTo>
                  <a:pt x="0" y="6909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614145" y="837222"/>
            <a:ext cx="404158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44"/>
              </a:lnSpc>
              <a:spcBef>
                <a:spcPct val="0"/>
              </a:spcBef>
            </a:pPr>
            <a:r>
              <a:rPr lang="en-US" sz="167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10798" y="666926"/>
            <a:ext cx="8666403" cy="79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24"/>
              </a:lnSpc>
              <a:spcBef>
                <a:spcPct val="0"/>
              </a:spcBef>
            </a:pPr>
            <a:r>
              <a:rPr lang="en-US" sz="466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INSTALLATION PROCESS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14056" y="534574"/>
            <a:ext cx="1407746" cy="719596"/>
          </a:xfrm>
          <a:custGeom>
            <a:avLst/>
            <a:gdLst/>
            <a:ahLst/>
            <a:cxnLst/>
            <a:rect r="r" b="b" t="t" l="l"/>
            <a:pathLst>
              <a:path h="719596" w="1407746">
                <a:moveTo>
                  <a:pt x="0" y="0"/>
                </a:moveTo>
                <a:lnTo>
                  <a:pt x="1407747" y="0"/>
                </a:lnTo>
                <a:lnTo>
                  <a:pt x="1407747" y="719596"/>
                </a:lnTo>
                <a:lnTo>
                  <a:pt x="0" y="7195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</a:blip>
            <a:stretch>
              <a:fillRect l="-45384" t="-64863" r="-42508" b="-64871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85490" y="2120353"/>
            <a:ext cx="6213095" cy="7137947"/>
            <a:chOff x="0" y="0"/>
            <a:chExt cx="8284126" cy="951726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284126" cy="9517262"/>
              <a:chOff x="0" y="0"/>
              <a:chExt cx="1224398" cy="140665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24398" cy="1406656"/>
              </a:xfrm>
              <a:custGeom>
                <a:avLst/>
                <a:gdLst/>
                <a:ahLst/>
                <a:cxnLst/>
                <a:rect r="r" b="b" t="t" l="l"/>
                <a:pathLst>
                  <a:path h="1406656" w="1224398">
                    <a:moveTo>
                      <a:pt x="50874" y="0"/>
                    </a:moveTo>
                    <a:lnTo>
                      <a:pt x="1173524" y="0"/>
                    </a:lnTo>
                    <a:cubicBezTo>
                      <a:pt x="1187017" y="0"/>
                      <a:pt x="1199957" y="5360"/>
                      <a:pt x="1209497" y="14901"/>
                    </a:cubicBezTo>
                    <a:cubicBezTo>
                      <a:pt x="1219038" y="24441"/>
                      <a:pt x="1224398" y="37381"/>
                      <a:pt x="1224398" y="50874"/>
                    </a:cubicBezTo>
                    <a:lnTo>
                      <a:pt x="1224398" y="1355782"/>
                    </a:lnTo>
                    <a:cubicBezTo>
                      <a:pt x="1224398" y="1369275"/>
                      <a:pt x="1219038" y="1382215"/>
                      <a:pt x="1209497" y="1391755"/>
                    </a:cubicBezTo>
                    <a:cubicBezTo>
                      <a:pt x="1199957" y="1401296"/>
                      <a:pt x="1187017" y="1406656"/>
                      <a:pt x="1173524" y="1406656"/>
                    </a:cubicBezTo>
                    <a:lnTo>
                      <a:pt x="50874" y="1406656"/>
                    </a:lnTo>
                    <a:cubicBezTo>
                      <a:pt x="37381" y="1406656"/>
                      <a:pt x="24441" y="1401296"/>
                      <a:pt x="14901" y="1391755"/>
                    </a:cubicBezTo>
                    <a:cubicBezTo>
                      <a:pt x="5360" y="1382215"/>
                      <a:pt x="0" y="1369275"/>
                      <a:pt x="0" y="1355782"/>
                    </a:cubicBezTo>
                    <a:lnTo>
                      <a:pt x="0" y="50874"/>
                    </a:lnTo>
                    <a:cubicBezTo>
                      <a:pt x="0" y="37381"/>
                      <a:pt x="5360" y="24441"/>
                      <a:pt x="14901" y="14901"/>
                    </a:cubicBezTo>
                    <a:cubicBezTo>
                      <a:pt x="24441" y="5360"/>
                      <a:pt x="37381" y="0"/>
                      <a:pt x="5087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C59">
                      <a:alpha val="100000"/>
                    </a:srgbClr>
                  </a:gs>
                  <a:gs pos="100000">
                    <a:srgbClr val="53008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224398" cy="1463806"/>
              </a:xfrm>
              <a:prstGeom prst="rect">
                <a:avLst/>
              </a:prstGeom>
            </p:spPr>
            <p:txBody>
              <a:bodyPr anchor="ctr" rtlCol="false" tIns="59685" lIns="59685" bIns="59685" rIns="59685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144076" y="434140"/>
              <a:ext cx="2577150" cy="1680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257"/>
                </a:lnSpc>
                <a:spcBef>
                  <a:spcPct val="0"/>
                </a:spcBef>
              </a:pPr>
              <a:r>
                <a:rPr lang="en-US" sz="732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113651" y="2300981"/>
              <a:ext cx="5215150" cy="821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12"/>
                </a:lnSpc>
                <a:spcBef>
                  <a:spcPct val="0"/>
                </a:spcBef>
              </a:pPr>
              <a:r>
                <a:rPr lang="en-US" b="true" sz="358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Run &amp; Configure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113651" y="4012447"/>
              <a:ext cx="5995974" cy="4614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90"/>
                </a:lnSpc>
              </a:pPr>
              <a:r>
                <a:rPr lang="en-US" sz="2293">
                  <a:solidFill>
                    <a:srgbClr val="EDEFFA"/>
                  </a:solidFill>
                  <a:latin typeface="Playwrite US Modern Light"/>
                  <a:ea typeface="Playwrite US Modern Light"/>
                  <a:cs typeface="Playwrite US Modern Light"/>
                  <a:sym typeface="Playwrite US Modern Light"/>
                </a:rPr>
                <a:t>Run the installer and accept the prompts. Choose the startup option to auto-organize your Downloads folder on Windows startup and enable Explorer context menu integration.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473009" y="5889842"/>
            <a:ext cx="10388475" cy="2655201"/>
          </a:xfrm>
          <a:custGeom>
            <a:avLst/>
            <a:gdLst/>
            <a:ahLst/>
            <a:cxnLst/>
            <a:rect r="r" b="b" t="t" l="l"/>
            <a:pathLst>
              <a:path h="2655201" w="10388475">
                <a:moveTo>
                  <a:pt x="0" y="0"/>
                </a:moveTo>
                <a:lnTo>
                  <a:pt x="10388475" y="0"/>
                </a:lnTo>
                <a:lnTo>
                  <a:pt x="10388475" y="2655201"/>
                </a:lnTo>
                <a:lnTo>
                  <a:pt x="0" y="2655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58" t="-12053" r="-2491" b="-15143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473009" y="2624702"/>
            <a:ext cx="10388475" cy="2812027"/>
          </a:xfrm>
          <a:custGeom>
            <a:avLst/>
            <a:gdLst/>
            <a:ahLst/>
            <a:cxnLst/>
            <a:rect r="r" b="b" t="t" l="l"/>
            <a:pathLst>
              <a:path h="2812027" w="10388475">
                <a:moveTo>
                  <a:pt x="0" y="0"/>
                </a:moveTo>
                <a:lnTo>
                  <a:pt x="10388475" y="0"/>
                </a:lnTo>
                <a:lnTo>
                  <a:pt x="10388475" y="2812027"/>
                </a:lnTo>
                <a:lnTo>
                  <a:pt x="0" y="2812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57" t="-1066" r="-5152" b="-867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614145" y="837222"/>
            <a:ext cx="404158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44"/>
              </a:lnSpc>
              <a:spcBef>
                <a:spcPct val="0"/>
              </a:spcBef>
            </a:pPr>
            <a:r>
              <a:rPr lang="en-US" sz="167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10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85490" y="402378"/>
            <a:ext cx="1407746" cy="719596"/>
          </a:xfrm>
          <a:custGeom>
            <a:avLst/>
            <a:gdLst/>
            <a:ahLst/>
            <a:cxnLst/>
            <a:rect r="r" b="b" t="t" l="l"/>
            <a:pathLst>
              <a:path h="719596" w="1407746">
                <a:moveTo>
                  <a:pt x="0" y="0"/>
                </a:moveTo>
                <a:lnTo>
                  <a:pt x="1407746" y="0"/>
                </a:lnTo>
                <a:lnTo>
                  <a:pt x="1407746" y="719595"/>
                </a:lnTo>
                <a:lnTo>
                  <a:pt x="0" y="719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</a:blip>
            <a:stretch>
              <a:fillRect l="-45384" t="-64863" r="-42508" b="-64871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810798" y="666926"/>
            <a:ext cx="8666403" cy="79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24"/>
              </a:lnSpc>
              <a:spcBef>
                <a:spcPct val="0"/>
              </a:spcBef>
            </a:pPr>
            <a:r>
              <a:rPr lang="en-US" sz="466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INSTALLATION PROCESS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88559" y="2944817"/>
            <a:ext cx="6395311" cy="5560940"/>
          </a:xfrm>
          <a:custGeom>
            <a:avLst/>
            <a:gdLst/>
            <a:ahLst/>
            <a:cxnLst/>
            <a:rect r="r" b="b" t="t" l="l"/>
            <a:pathLst>
              <a:path h="5560940" w="6395311">
                <a:moveTo>
                  <a:pt x="0" y="0"/>
                </a:moveTo>
                <a:lnTo>
                  <a:pt x="6395311" y="0"/>
                </a:lnTo>
                <a:lnTo>
                  <a:pt x="6395311" y="5560941"/>
                </a:lnTo>
                <a:lnTo>
                  <a:pt x="0" y="5560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62" t="-42196" r="-10373" b="-3764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14145" y="837222"/>
            <a:ext cx="404158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44"/>
              </a:lnSpc>
              <a:spcBef>
                <a:spcPct val="0"/>
              </a:spcBef>
            </a:pPr>
            <a:r>
              <a:rPr lang="en-US" sz="167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10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41100" y="2944817"/>
            <a:ext cx="5360758" cy="5837812"/>
            <a:chOff x="0" y="0"/>
            <a:chExt cx="1411887" cy="15375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1887" cy="1537531"/>
            </a:xfrm>
            <a:custGeom>
              <a:avLst/>
              <a:gdLst/>
              <a:ahLst/>
              <a:cxnLst/>
              <a:rect r="r" b="b" t="t" l="l"/>
              <a:pathLst>
                <a:path h="1537531" w="1411887">
                  <a:moveTo>
                    <a:pt x="50546" y="0"/>
                  </a:moveTo>
                  <a:lnTo>
                    <a:pt x="1361341" y="0"/>
                  </a:lnTo>
                  <a:cubicBezTo>
                    <a:pt x="1389257" y="0"/>
                    <a:pt x="1411887" y="22630"/>
                    <a:pt x="1411887" y="50546"/>
                  </a:cubicBezTo>
                  <a:lnTo>
                    <a:pt x="1411887" y="1486984"/>
                  </a:lnTo>
                  <a:cubicBezTo>
                    <a:pt x="1411887" y="1500390"/>
                    <a:pt x="1406562" y="1513247"/>
                    <a:pt x="1397082" y="1522726"/>
                  </a:cubicBezTo>
                  <a:cubicBezTo>
                    <a:pt x="1387603" y="1532205"/>
                    <a:pt x="1374746" y="1537531"/>
                    <a:pt x="1361341" y="1537531"/>
                  </a:cubicBezTo>
                  <a:lnTo>
                    <a:pt x="50546" y="1537531"/>
                  </a:lnTo>
                  <a:cubicBezTo>
                    <a:pt x="37141" y="1537531"/>
                    <a:pt x="24284" y="1532205"/>
                    <a:pt x="14805" y="1522726"/>
                  </a:cubicBezTo>
                  <a:cubicBezTo>
                    <a:pt x="5325" y="1513247"/>
                    <a:pt x="0" y="1500390"/>
                    <a:pt x="0" y="1486984"/>
                  </a:cubicBezTo>
                  <a:lnTo>
                    <a:pt x="0" y="50546"/>
                  </a:lnTo>
                  <a:cubicBezTo>
                    <a:pt x="0" y="37141"/>
                    <a:pt x="5325" y="24284"/>
                    <a:pt x="14805" y="14805"/>
                  </a:cubicBezTo>
                  <a:cubicBezTo>
                    <a:pt x="24284" y="5325"/>
                    <a:pt x="37141" y="0"/>
                    <a:pt x="505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11887" cy="1594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49462" y="4278349"/>
            <a:ext cx="4304075" cy="52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1"/>
              </a:lnSpc>
              <a:spcBef>
                <a:spcPct val="0"/>
              </a:spcBef>
            </a:pPr>
            <a:r>
              <a:rPr lang="en-US" b="true" sz="29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Launch &amp; Organize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9462" y="5029200"/>
            <a:ext cx="4511093" cy="2829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3"/>
              </a:lnSpc>
            </a:pPr>
            <a:r>
              <a:rPr lang="en-US" sz="2242" spc="51">
                <a:solidFill>
                  <a:srgbClr val="000000"/>
                </a:solidFill>
                <a:latin typeface="Playwrite US Modern Light"/>
                <a:ea typeface="Playwrite US Modern Light"/>
                <a:cs typeface="Playwrite US Modern Light"/>
                <a:sym typeface="Playwrite US Modern Light"/>
              </a:rPr>
              <a:t>Finish setup and launch CleanWrap. Your first cleanup report appears within seconds — folders are sorted, duplicates quarantined, and a timestamped log is generated.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9462" y="3153643"/>
            <a:ext cx="1446245" cy="98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4"/>
              </a:lnSpc>
              <a:spcBef>
                <a:spcPct val="0"/>
              </a:spcBef>
            </a:pPr>
            <a:r>
              <a:rPr lang="en-US" sz="54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37227" y="442367"/>
            <a:ext cx="1407746" cy="719596"/>
          </a:xfrm>
          <a:custGeom>
            <a:avLst/>
            <a:gdLst/>
            <a:ahLst/>
            <a:cxnLst/>
            <a:rect r="r" b="b" t="t" l="l"/>
            <a:pathLst>
              <a:path h="719596" w="1407746">
                <a:moveTo>
                  <a:pt x="0" y="0"/>
                </a:moveTo>
                <a:lnTo>
                  <a:pt x="1407746" y="0"/>
                </a:lnTo>
                <a:lnTo>
                  <a:pt x="1407746" y="719595"/>
                </a:lnTo>
                <a:lnTo>
                  <a:pt x="0" y="7195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</a:blip>
            <a:stretch>
              <a:fillRect l="-45384" t="-64863" r="-42508" b="-6487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10798" y="671243"/>
            <a:ext cx="8666403" cy="79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24"/>
              </a:lnSpc>
              <a:spcBef>
                <a:spcPct val="0"/>
              </a:spcBef>
            </a:pPr>
            <a:r>
              <a:rPr lang="en-US" sz="466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INSTALLATION PROCESS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26207" y="1116878"/>
            <a:ext cx="14035586" cy="8621361"/>
            <a:chOff x="0" y="0"/>
            <a:chExt cx="18714114" cy="1149514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8714114" cy="11495148"/>
              <a:chOff x="0" y="0"/>
              <a:chExt cx="2178049" cy="133786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78049" cy="1337867"/>
              </a:xfrm>
              <a:custGeom>
                <a:avLst/>
                <a:gdLst/>
                <a:ahLst/>
                <a:cxnLst/>
                <a:rect r="r" b="b" t="t" l="l"/>
                <a:pathLst>
                  <a:path h="1337867" w="2178049">
                    <a:moveTo>
                      <a:pt x="32766" y="0"/>
                    </a:moveTo>
                    <a:lnTo>
                      <a:pt x="2145283" y="0"/>
                    </a:lnTo>
                    <a:cubicBezTo>
                      <a:pt x="2153973" y="0"/>
                      <a:pt x="2162307" y="3452"/>
                      <a:pt x="2168452" y="9597"/>
                    </a:cubicBezTo>
                    <a:cubicBezTo>
                      <a:pt x="2174597" y="15742"/>
                      <a:pt x="2178049" y="24076"/>
                      <a:pt x="2178049" y="32766"/>
                    </a:cubicBezTo>
                    <a:lnTo>
                      <a:pt x="2178049" y="1305101"/>
                    </a:lnTo>
                    <a:cubicBezTo>
                      <a:pt x="2178049" y="1323197"/>
                      <a:pt x="2163379" y="1337867"/>
                      <a:pt x="2145283" y="1337867"/>
                    </a:cubicBezTo>
                    <a:lnTo>
                      <a:pt x="32766" y="1337867"/>
                    </a:lnTo>
                    <a:cubicBezTo>
                      <a:pt x="24076" y="1337867"/>
                      <a:pt x="15742" y="1334415"/>
                      <a:pt x="9597" y="1328270"/>
                    </a:cubicBezTo>
                    <a:cubicBezTo>
                      <a:pt x="3452" y="1322125"/>
                      <a:pt x="0" y="1313791"/>
                      <a:pt x="0" y="1305101"/>
                    </a:cubicBezTo>
                    <a:lnTo>
                      <a:pt x="0" y="32766"/>
                    </a:lnTo>
                    <a:cubicBezTo>
                      <a:pt x="0" y="24076"/>
                      <a:pt x="3452" y="15742"/>
                      <a:pt x="9597" y="9597"/>
                    </a:cubicBezTo>
                    <a:cubicBezTo>
                      <a:pt x="15742" y="3452"/>
                      <a:pt x="24076" y="0"/>
                      <a:pt x="3276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C59">
                      <a:alpha val="100000"/>
                    </a:srgbClr>
                  </a:gs>
                  <a:gs pos="100000">
                    <a:srgbClr val="53008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178049" cy="13950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554284" y="1944479"/>
              <a:ext cx="1313391" cy="1846454"/>
            </a:xfrm>
            <a:custGeom>
              <a:avLst/>
              <a:gdLst/>
              <a:ahLst/>
              <a:cxnLst/>
              <a:rect r="r" b="b" t="t" l="l"/>
              <a:pathLst>
                <a:path h="1846454" w="1313391">
                  <a:moveTo>
                    <a:pt x="0" y="0"/>
                  </a:moveTo>
                  <a:lnTo>
                    <a:pt x="1313390" y="0"/>
                  </a:lnTo>
                  <a:lnTo>
                    <a:pt x="1313390" y="1846453"/>
                  </a:lnTo>
                  <a:lnTo>
                    <a:pt x="0" y="1846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573123" y="1605377"/>
              <a:ext cx="1627187" cy="2652481"/>
            </a:xfrm>
            <a:custGeom>
              <a:avLst/>
              <a:gdLst/>
              <a:ahLst/>
              <a:cxnLst/>
              <a:rect r="r" b="b" t="t" l="l"/>
              <a:pathLst>
                <a:path h="2652481" w="1627187">
                  <a:moveTo>
                    <a:pt x="0" y="0"/>
                  </a:moveTo>
                  <a:lnTo>
                    <a:pt x="1627187" y="0"/>
                  </a:lnTo>
                  <a:lnTo>
                    <a:pt x="1627187" y="2652482"/>
                  </a:lnTo>
                  <a:lnTo>
                    <a:pt x="0" y="2652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2290598" y="4843662"/>
              <a:ext cx="4613196" cy="170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12"/>
                </a:lnSpc>
                <a:spcBef>
                  <a:spcPct val="0"/>
                </a:spcBef>
              </a:pPr>
              <a:r>
                <a:rPr lang="en-US" b="true" sz="372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Launch &amp; Organize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0575262" y="4843662"/>
              <a:ext cx="5228394" cy="170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12"/>
                </a:lnSpc>
                <a:spcBef>
                  <a:spcPct val="0"/>
                </a:spcBef>
              </a:pPr>
              <a:r>
                <a:rPr lang="en-US" b="true" sz="372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Right-Click Any Folder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90598" y="6759415"/>
              <a:ext cx="7529749" cy="1975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8"/>
                </a:lnSpc>
                <a:spcBef>
                  <a:spcPct val="0"/>
                </a:spcBef>
              </a:pPr>
              <a:r>
                <a:rPr lang="en-US" sz="2177">
                  <a:solidFill>
                    <a:srgbClr val="EDEF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Open CleanWrap to instantly organize your Downloads folder. Sorting completes in seconds with a full cleanup report generated automatically.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0573123" y="6759415"/>
              <a:ext cx="5965863" cy="2471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8"/>
                </a:lnSpc>
                <a:spcBef>
                  <a:spcPct val="0"/>
                </a:spcBef>
              </a:pPr>
              <a:r>
                <a:rPr lang="en-US" sz="2177">
                  <a:solidFill>
                    <a:srgbClr val="EDEF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Right-click any folder in Windows Explorer and select "Organize with CleanWrap" to sort it instantly via the context menu integration.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255115" y="1661629"/>
            <a:ext cx="3347645" cy="4642489"/>
          </a:xfrm>
          <a:custGeom>
            <a:avLst/>
            <a:gdLst/>
            <a:ahLst/>
            <a:cxnLst/>
            <a:rect r="r" b="b" t="t" l="l"/>
            <a:pathLst>
              <a:path h="4642489" w="3347645">
                <a:moveTo>
                  <a:pt x="0" y="0"/>
                </a:moveTo>
                <a:lnTo>
                  <a:pt x="3347645" y="0"/>
                </a:lnTo>
                <a:lnTo>
                  <a:pt x="3347645" y="4642489"/>
                </a:lnTo>
                <a:lnTo>
                  <a:pt x="0" y="46424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551" t="-4382" r="-11478" b="-10365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14056" y="7818484"/>
            <a:ext cx="4057685" cy="2154338"/>
          </a:xfrm>
          <a:custGeom>
            <a:avLst/>
            <a:gdLst/>
            <a:ahLst/>
            <a:cxnLst/>
            <a:rect r="r" b="b" t="t" l="l"/>
            <a:pathLst>
              <a:path h="2154338" w="4057685">
                <a:moveTo>
                  <a:pt x="0" y="0"/>
                </a:moveTo>
                <a:lnTo>
                  <a:pt x="4057686" y="0"/>
                </a:lnTo>
                <a:lnTo>
                  <a:pt x="4057686" y="2154338"/>
                </a:lnTo>
                <a:lnTo>
                  <a:pt x="0" y="2154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063" t="-7237" r="-57948" b="-7707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614145" y="856272"/>
            <a:ext cx="404158" cy="265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54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11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14056" y="534574"/>
            <a:ext cx="1407746" cy="719596"/>
          </a:xfrm>
          <a:custGeom>
            <a:avLst/>
            <a:gdLst/>
            <a:ahLst/>
            <a:cxnLst/>
            <a:rect r="r" b="b" t="t" l="l"/>
            <a:pathLst>
              <a:path h="719596" w="1407746">
                <a:moveTo>
                  <a:pt x="0" y="0"/>
                </a:moveTo>
                <a:lnTo>
                  <a:pt x="1407747" y="0"/>
                </a:lnTo>
                <a:lnTo>
                  <a:pt x="1407747" y="719596"/>
                </a:lnTo>
                <a:lnTo>
                  <a:pt x="0" y="7195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</a:blip>
            <a:stretch>
              <a:fillRect l="-45384" t="-64863" r="-42508" b="-64871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899641" y="2339206"/>
            <a:ext cx="11243507" cy="7512476"/>
          </a:xfrm>
          <a:custGeom>
            <a:avLst/>
            <a:gdLst/>
            <a:ahLst/>
            <a:cxnLst/>
            <a:rect r="r" b="b" t="t" l="l"/>
            <a:pathLst>
              <a:path h="7512476" w="11243507">
                <a:moveTo>
                  <a:pt x="0" y="0"/>
                </a:moveTo>
                <a:lnTo>
                  <a:pt x="11243507" y="0"/>
                </a:lnTo>
                <a:lnTo>
                  <a:pt x="11243507" y="7512476"/>
                </a:lnTo>
                <a:lnTo>
                  <a:pt x="0" y="7512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52" t="0" r="-3452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1777516">
            <a:off x="51306" y="2500733"/>
            <a:ext cx="4974331" cy="5407546"/>
            <a:chOff x="0" y="0"/>
            <a:chExt cx="812800" cy="8835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83587"/>
            </a:xfrm>
            <a:custGeom>
              <a:avLst/>
              <a:gdLst/>
              <a:ahLst/>
              <a:cxnLst/>
              <a:rect r="r" b="b" t="t" l="l"/>
              <a:pathLst>
                <a:path h="883587" w="812800">
                  <a:moveTo>
                    <a:pt x="155637" y="0"/>
                  </a:moveTo>
                  <a:lnTo>
                    <a:pt x="657163" y="0"/>
                  </a:lnTo>
                  <a:cubicBezTo>
                    <a:pt x="743119" y="0"/>
                    <a:pt x="812800" y="69681"/>
                    <a:pt x="812800" y="155637"/>
                  </a:cubicBezTo>
                  <a:lnTo>
                    <a:pt x="812800" y="727949"/>
                  </a:lnTo>
                  <a:cubicBezTo>
                    <a:pt x="812800" y="769227"/>
                    <a:pt x="796403" y="808814"/>
                    <a:pt x="767215" y="838002"/>
                  </a:cubicBezTo>
                  <a:cubicBezTo>
                    <a:pt x="738027" y="867189"/>
                    <a:pt x="698440" y="883587"/>
                    <a:pt x="657163" y="883587"/>
                  </a:cubicBezTo>
                  <a:lnTo>
                    <a:pt x="155637" y="883587"/>
                  </a:lnTo>
                  <a:cubicBezTo>
                    <a:pt x="69681" y="883587"/>
                    <a:pt x="0" y="813906"/>
                    <a:pt x="0" y="727949"/>
                  </a:cubicBezTo>
                  <a:lnTo>
                    <a:pt x="0" y="155637"/>
                  </a:lnTo>
                  <a:cubicBezTo>
                    <a:pt x="0" y="69681"/>
                    <a:pt x="69681" y="0"/>
                    <a:pt x="155637" y="0"/>
                  </a:cubicBezTo>
                  <a:close/>
                </a:path>
              </a:pathLst>
            </a:custGeom>
            <a:blipFill>
              <a:blip r:embed="rId5"/>
              <a:stretch>
                <a:fillRect l="-4354" t="0" r="-435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19182" y="5681988"/>
            <a:ext cx="6049427" cy="4315789"/>
            <a:chOff x="0" y="0"/>
            <a:chExt cx="8065903" cy="575438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065903" cy="5754385"/>
              <a:chOff x="0" y="0"/>
              <a:chExt cx="2063827" cy="147237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63827" cy="1472377"/>
              </a:xfrm>
              <a:custGeom>
                <a:avLst/>
                <a:gdLst/>
                <a:ahLst/>
                <a:cxnLst/>
                <a:rect r="r" b="b" t="t" l="l"/>
                <a:pathLst>
                  <a:path h="1472377" w="2063827">
                    <a:moveTo>
                      <a:pt x="34579" y="0"/>
                    </a:moveTo>
                    <a:lnTo>
                      <a:pt x="2029247" y="0"/>
                    </a:lnTo>
                    <a:cubicBezTo>
                      <a:pt x="2038418" y="0"/>
                      <a:pt x="2047214" y="3643"/>
                      <a:pt x="2053699" y="10128"/>
                    </a:cubicBezTo>
                    <a:cubicBezTo>
                      <a:pt x="2060184" y="16613"/>
                      <a:pt x="2063827" y="25408"/>
                      <a:pt x="2063827" y="34579"/>
                    </a:cubicBezTo>
                    <a:lnTo>
                      <a:pt x="2063827" y="1437798"/>
                    </a:lnTo>
                    <a:cubicBezTo>
                      <a:pt x="2063827" y="1446969"/>
                      <a:pt x="2060184" y="1455765"/>
                      <a:pt x="2053699" y="1462249"/>
                    </a:cubicBezTo>
                    <a:cubicBezTo>
                      <a:pt x="2047214" y="1468734"/>
                      <a:pt x="2038418" y="1472377"/>
                      <a:pt x="2029247" y="1472377"/>
                    </a:cubicBezTo>
                    <a:lnTo>
                      <a:pt x="34579" y="1472377"/>
                    </a:lnTo>
                    <a:cubicBezTo>
                      <a:pt x="25408" y="1472377"/>
                      <a:pt x="16613" y="1468734"/>
                      <a:pt x="10128" y="1462249"/>
                    </a:cubicBezTo>
                    <a:cubicBezTo>
                      <a:pt x="3643" y="1455765"/>
                      <a:pt x="0" y="1446969"/>
                      <a:pt x="0" y="1437798"/>
                    </a:cubicBezTo>
                    <a:lnTo>
                      <a:pt x="0" y="34579"/>
                    </a:lnTo>
                    <a:cubicBezTo>
                      <a:pt x="0" y="25408"/>
                      <a:pt x="3643" y="16613"/>
                      <a:pt x="10128" y="10128"/>
                    </a:cubicBezTo>
                    <a:cubicBezTo>
                      <a:pt x="16613" y="3643"/>
                      <a:pt x="25408" y="0"/>
                      <a:pt x="34579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C59">
                      <a:alpha val="100000"/>
                    </a:srgbClr>
                  </a:gs>
                  <a:gs pos="100000">
                    <a:srgbClr val="53008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2063827" cy="15295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17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929660" y="633643"/>
              <a:ext cx="1249991" cy="1253388"/>
            </a:xfrm>
            <a:custGeom>
              <a:avLst/>
              <a:gdLst/>
              <a:ahLst/>
              <a:cxnLst/>
              <a:rect r="r" b="b" t="t" l="l"/>
              <a:pathLst>
                <a:path h="1253388" w="1249991">
                  <a:moveTo>
                    <a:pt x="0" y="0"/>
                  </a:moveTo>
                  <a:lnTo>
                    <a:pt x="1249991" y="0"/>
                  </a:lnTo>
                  <a:lnTo>
                    <a:pt x="1249991" y="1253388"/>
                  </a:lnTo>
                  <a:lnTo>
                    <a:pt x="0" y="1253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23701" y="633643"/>
              <a:ext cx="1177546" cy="1152327"/>
            </a:xfrm>
            <a:custGeom>
              <a:avLst/>
              <a:gdLst/>
              <a:ahLst/>
              <a:cxnLst/>
              <a:rect r="r" b="b" t="t" l="l"/>
              <a:pathLst>
                <a:path h="1152327" w="1177546">
                  <a:moveTo>
                    <a:pt x="0" y="0"/>
                  </a:moveTo>
                  <a:lnTo>
                    <a:pt x="1177546" y="0"/>
                  </a:lnTo>
                  <a:lnTo>
                    <a:pt x="1177546" y="1152327"/>
                  </a:lnTo>
                  <a:lnTo>
                    <a:pt x="0" y="1152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927670" y="2312739"/>
              <a:ext cx="2098360" cy="832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Education &amp; Role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696035" y="2312739"/>
              <a:ext cx="2820337" cy="832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Creator of CleanWrap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927670" y="3376987"/>
              <a:ext cx="2820337" cy="1619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2"/>
                </a:lnSpc>
                <a:spcBef>
                  <a:spcPct val="0"/>
                </a:spcBef>
              </a:pPr>
              <a:r>
                <a:rPr lang="en-US" sz="1365">
                  <a:solidFill>
                    <a:srgbClr val="EDEF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BSc. CSE, KUET. Software Lead at XtendArena. Passionate about native desktop software and systems programming.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696035" y="3376987"/>
              <a:ext cx="2820337" cy="1619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12"/>
                </a:lnSpc>
                <a:spcBef>
                  <a:spcPct val="0"/>
                </a:spcBef>
              </a:pPr>
              <a:r>
                <a:rPr lang="en-US" sz="1365">
                  <a:solidFill>
                    <a:srgbClr val="EDEF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Started as a weekend script. Evolved into a full app. GitHub, LinkedIn, Facebook, Instagram — @ettisafrup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105632" y="1293598"/>
            <a:ext cx="7497128" cy="224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69"/>
              </a:lnSpc>
            </a:pPr>
            <a:r>
              <a:rPr lang="en-US" sz="6743">
                <a:solidFill>
                  <a:srgbClr val="000000"/>
                </a:solidFill>
                <a:latin typeface="Alyssum"/>
                <a:ea typeface="Alyssum"/>
                <a:cs typeface="Alyssum"/>
                <a:sym typeface="Alyssum"/>
              </a:rPr>
              <a:t>A MESS FROM ANOTHER MESS!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53354" y="6756490"/>
            <a:ext cx="5575906" cy="205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2"/>
              </a:lnSpc>
            </a:pPr>
            <a:r>
              <a:rPr lang="en-US" sz="1780">
                <a:solidFill>
                  <a:srgbClr val="000000"/>
                </a:solidFill>
                <a:latin typeface="Playwrite US Modern Light"/>
                <a:ea typeface="Playwrite US Modern Light"/>
                <a:cs typeface="Playwrite US Modern Light"/>
                <a:sym typeface="Playwrite US Modern Light"/>
              </a:rPr>
              <a:t>Ettisaf Rup is a regular computer guy with a BSc. in Computer Science &amp; Engineering from KUET. He serves as Software Lead at XtendArena, where he focuses on building fast, native software and systems programming.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53354" y="4030231"/>
            <a:ext cx="6062302" cy="225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5"/>
              </a:lnSpc>
            </a:pPr>
            <a:r>
              <a:rPr lang="en-US" sz="2190">
                <a:solidFill>
                  <a:srgbClr val="000000"/>
                </a:solidFill>
                <a:latin typeface="Playwrite US Modern Light"/>
                <a:ea typeface="Playwrite US Modern Light"/>
                <a:cs typeface="Playwrite US Modern Light"/>
                <a:sym typeface="Playwrite US Modern Light"/>
              </a:rPr>
              <a:t>CleanWrap started as a weekend script to solve Ettisaf's own cluttered Downloads folder. It evolved into a full-featured, open source Windows utility. Later on, popped up as a idea saying, “why not?”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614145" y="837222"/>
            <a:ext cx="404158" cy="32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15"/>
              </a:lnSpc>
              <a:spcBef>
                <a:spcPct val="0"/>
              </a:spcBef>
            </a:pPr>
            <a:r>
              <a:rPr lang="en-US" sz="179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C59">
                <a:alpha val="100000"/>
              </a:srgbClr>
            </a:gs>
            <a:gs pos="100000">
              <a:srgbClr val="53008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614150" y="1116878"/>
            <a:ext cx="7062780" cy="2461349"/>
            <a:chOff x="0" y="0"/>
            <a:chExt cx="1860156" cy="6482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0156" cy="648256"/>
            </a:xfrm>
            <a:custGeom>
              <a:avLst/>
              <a:gdLst/>
              <a:ahLst/>
              <a:cxnLst/>
              <a:rect r="r" b="b" t="t" l="l"/>
              <a:pathLst>
                <a:path h="648256" w="1860156">
                  <a:moveTo>
                    <a:pt x="38366" y="0"/>
                  </a:moveTo>
                  <a:lnTo>
                    <a:pt x="1821791" y="0"/>
                  </a:lnTo>
                  <a:cubicBezTo>
                    <a:pt x="1842979" y="0"/>
                    <a:pt x="1860156" y="17177"/>
                    <a:pt x="1860156" y="38366"/>
                  </a:cubicBezTo>
                  <a:lnTo>
                    <a:pt x="1860156" y="609891"/>
                  </a:lnTo>
                  <a:cubicBezTo>
                    <a:pt x="1860156" y="631080"/>
                    <a:pt x="1842979" y="648256"/>
                    <a:pt x="1821791" y="648256"/>
                  </a:cubicBezTo>
                  <a:lnTo>
                    <a:pt x="38366" y="648256"/>
                  </a:lnTo>
                  <a:cubicBezTo>
                    <a:pt x="17177" y="648256"/>
                    <a:pt x="0" y="631080"/>
                    <a:pt x="0" y="609891"/>
                  </a:cubicBezTo>
                  <a:lnTo>
                    <a:pt x="0" y="38366"/>
                  </a:lnTo>
                  <a:cubicBezTo>
                    <a:pt x="0" y="17177"/>
                    <a:pt x="17177" y="0"/>
                    <a:pt x="38366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860156" cy="70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614150" y="3912826"/>
            <a:ext cx="7062780" cy="2461349"/>
            <a:chOff x="0" y="0"/>
            <a:chExt cx="1860156" cy="6482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0156" cy="648256"/>
            </a:xfrm>
            <a:custGeom>
              <a:avLst/>
              <a:gdLst/>
              <a:ahLst/>
              <a:cxnLst/>
              <a:rect r="r" b="b" t="t" l="l"/>
              <a:pathLst>
                <a:path h="648256" w="1860156">
                  <a:moveTo>
                    <a:pt x="38366" y="0"/>
                  </a:moveTo>
                  <a:lnTo>
                    <a:pt x="1821791" y="0"/>
                  </a:lnTo>
                  <a:cubicBezTo>
                    <a:pt x="1842979" y="0"/>
                    <a:pt x="1860156" y="17177"/>
                    <a:pt x="1860156" y="38366"/>
                  </a:cubicBezTo>
                  <a:lnTo>
                    <a:pt x="1860156" y="609891"/>
                  </a:lnTo>
                  <a:cubicBezTo>
                    <a:pt x="1860156" y="631080"/>
                    <a:pt x="1842979" y="648256"/>
                    <a:pt x="1821791" y="648256"/>
                  </a:cubicBezTo>
                  <a:lnTo>
                    <a:pt x="38366" y="648256"/>
                  </a:lnTo>
                  <a:cubicBezTo>
                    <a:pt x="17177" y="648256"/>
                    <a:pt x="0" y="631080"/>
                    <a:pt x="0" y="609891"/>
                  </a:cubicBezTo>
                  <a:lnTo>
                    <a:pt x="0" y="38366"/>
                  </a:lnTo>
                  <a:cubicBezTo>
                    <a:pt x="0" y="17177"/>
                    <a:pt x="17177" y="0"/>
                    <a:pt x="38366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FFA204">
                      <a:alpha val="100000"/>
                    </a:srgbClr>
                  </a:gs>
                  <a:gs pos="100000">
                    <a:srgbClr val="8700A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860156" cy="70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14150" y="6707549"/>
            <a:ext cx="7062780" cy="2461349"/>
            <a:chOff x="0" y="0"/>
            <a:chExt cx="1860156" cy="6482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0156" cy="648256"/>
            </a:xfrm>
            <a:custGeom>
              <a:avLst/>
              <a:gdLst/>
              <a:ahLst/>
              <a:cxnLst/>
              <a:rect r="r" b="b" t="t" l="l"/>
              <a:pathLst>
                <a:path h="648256" w="1860156">
                  <a:moveTo>
                    <a:pt x="38366" y="0"/>
                  </a:moveTo>
                  <a:lnTo>
                    <a:pt x="1821791" y="0"/>
                  </a:lnTo>
                  <a:cubicBezTo>
                    <a:pt x="1842979" y="0"/>
                    <a:pt x="1860156" y="17177"/>
                    <a:pt x="1860156" y="38366"/>
                  </a:cubicBezTo>
                  <a:lnTo>
                    <a:pt x="1860156" y="609891"/>
                  </a:lnTo>
                  <a:cubicBezTo>
                    <a:pt x="1860156" y="631080"/>
                    <a:pt x="1842979" y="648256"/>
                    <a:pt x="1821791" y="648256"/>
                  </a:cubicBezTo>
                  <a:lnTo>
                    <a:pt x="38366" y="648256"/>
                  </a:lnTo>
                  <a:cubicBezTo>
                    <a:pt x="17177" y="648256"/>
                    <a:pt x="0" y="631080"/>
                    <a:pt x="0" y="609891"/>
                  </a:cubicBezTo>
                  <a:lnTo>
                    <a:pt x="0" y="38366"/>
                  </a:lnTo>
                  <a:cubicBezTo>
                    <a:pt x="0" y="17177"/>
                    <a:pt x="17177" y="0"/>
                    <a:pt x="383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860156" cy="70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614145" y="837222"/>
            <a:ext cx="404158" cy="3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44"/>
              </a:lnSpc>
              <a:spcBef>
                <a:spcPct val="0"/>
              </a:spcBef>
            </a:pPr>
            <a:r>
              <a:rPr lang="en-US" sz="167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14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9950" y="1851741"/>
            <a:ext cx="5004344" cy="103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86"/>
              </a:lnSpc>
              <a:spcBef>
                <a:spcPct val="0"/>
              </a:spcBef>
            </a:pPr>
            <a:r>
              <a:rPr lang="en-US" sz="6061">
                <a:solidFill>
                  <a:srgbClr val="FFFFFF"/>
                </a:solidFill>
                <a:latin typeface="Albertus Nova"/>
                <a:ea typeface="Albertus Nova"/>
                <a:cs typeface="Albertus Nova"/>
                <a:sym typeface="Albertus Nova"/>
              </a:rPr>
              <a:t>SUPPORT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9950" y="2918165"/>
            <a:ext cx="7357716" cy="101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06"/>
              </a:lnSpc>
              <a:spcBef>
                <a:spcPct val="0"/>
              </a:spcBef>
            </a:pPr>
            <a:r>
              <a:rPr lang="en-US" sz="5861">
                <a:solidFill>
                  <a:srgbClr val="FFFFFF"/>
                </a:solidFill>
                <a:latin typeface="Albertus Nova"/>
                <a:ea typeface="Albertus Nova"/>
                <a:cs typeface="Albertus Nova"/>
                <a:sym typeface="Albertus Nova"/>
              </a:rPr>
              <a:t>&amp; COMMUNITY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9950" y="4597386"/>
            <a:ext cx="6002957" cy="306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3"/>
              </a:lnSpc>
              <a:spcBef>
                <a:spcPct val="0"/>
              </a:spcBef>
            </a:pPr>
            <a:r>
              <a:rPr lang="en-US" sz="2545">
                <a:solidFill>
                  <a:srgbClr val="EDEFFA"/>
                </a:solidFill>
                <a:latin typeface="ABeeZee"/>
                <a:ea typeface="ABeeZee"/>
                <a:cs typeface="ABeeZee"/>
                <a:sym typeface="ABeeZee"/>
              </a:rPr>
              <a:t>Give a star on GitHub to boost visibility. Contribute code, report bugs, or share CleanWrap with others. </a:t>
            </a:r>
          </a:p>
          <a:p>
            <a:pPr algn="l" marL="0" indent="0" lvl="0">
              <a:lnSpc>
                <a:spcPts val="314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63"/>
              </a:lnSpc>
              <a:spcBef>
                <a:spcPct val="0"/>
              </a:spcBef>
            </a:pPr>
            <a:r>
              <a:rPr lang="en-US" sz="2545">
                <a:solidFill>
                  <a:srgbClr val="EDEFFA"/>
                </a:solidFill>
                <a:latin typeface="ABeeZee"/>
                <a:ea typeface="ABeeZee"/>
                <a:cs typeface="ABeeZee"/>
                <a:sym typeface="ABeeZee"/>
              </a:rPr>
              <a:t>Source code and user manual are freely available on GitHub under the MIT License.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103974" y="1804040"/>
            <a:ext cx="1306276" cy="1246355"/>
          </a:xfrm>
          <a:custGeom>
            <a:avLst/>
            <a:gdLst/>
            <a:ahLst/>
            <a:cxnLst/>
            <a:rect r="r" b="b" t="t" l="l"/>
            <a:pathLst>
              <a:path h="1246355" w="1306276">
                <a:moveTo>
                  <a:pt x="0" y="0"/>
                </a:moveTo>
                <a:lnTo>
                  <a:pt x="1306276" y="0"/>
                </a:lnTo>
                <a:lnTo>
                  <a:pt x="1306276" y="1246356"/>
                </a:lnTo>
                <a:lnTo>
                  <a:pt x="0" y="12463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172918" y="4383282"/>
            <a:ext cx="1350682" cy="1358520"/>
          </a:xfrm>
          <a:custGeom>
            <a:avLst/>
            <a:gdLst/>
            <a:ahLst/>
            <a:cxnLst/>
            <a:rect r="r" b="b" t="t" l="l"/>
            <a:pathLst>
              <a:path h="1358520" w="1350682">
                <a:moveTo>
                  <a:pt x="0" y="0"/>
                </a:moveTo>
                <a:lnTo>
                  <a:pt x="1350682" y="0"/>
                </a:lnTo>
                <a:lnTo>
                  <a:pt x="1350682" y="1358520"/>
                </a:lnTo>
                <a:lnTo>
                  <a:pt x="0" y="13585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010392" y="7205227"/>
            <a:ext cx="1589071" cy="1141356"/>
          </a:xfrm>
          <a:custGeom>
            <a:avLst/>
            <a:gdLst/>
            <a:ahLst/>
            <a:cxnLst/>
            <a:rect r="r" b="b" t="t" l="l"/>
            <a:pathLst>
              <a:path h="1141356" w="1589071">
                <a:moveTo>
                  <a:pt x="0" y="0"/>
                </a:moveTo>
                <a:lnTo>
                  <a:pt x="1589071" y="0"/>
                </a:lnTo>
                <a:lnTo>
                  <a:pt x="1589071" y="1141356"/>
                </a:lnTo>
                <a:lnTo>
                  <a:pt x="0" y="11413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888454" y="1476160"/>
            <a:ext cx="4049959" cy="38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1"/>
              </a:lnSpc>
              <a:spcBef>
                <a:spcPct val="0"/>
              </a:spcBef>
            </a:pPr>
            <a:r>
              <a:rPr lang="en-US" b="true" sz="219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 us on GitHub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88454" y="4272107"/>
            <a:ext cx="4049959" cy="38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1"/>
              </a:lnSpc>
              <a:spcBef>
                <a:spcPct val="0"/>
              </a:spcBef>
            </a:pPr>
            <a:r>
              <a:rPr lang="en-US" b="true" sz="219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Donate &amp; Support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88454" y="7066831"/>
            <a:ext cx="4049959" cy="38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1"/>
              </a:lnSpc>
              <a:spcBef>
                <a:spcPct val="0"/>
              </a:spcBef>
            </a:pPr>
            <a:r>
              <a:rPr lang="en-US" b="true" sz="219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Join the Community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88454" y="1981205"/>
            <a:ext cx="4430491" cy="102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  <a:spcBef>
                <a:spcPct val="0"/>
              </a:spcBef>
            </a:pPr>
            <a:r>
              <a:rPr lang="en-US" sz="1492">
                <a:solidFill>
                  <a:srgbClr val="EDEFFA"/>
                </a:solidFill>
                <a:latin typeface="Poppins Light"/>
                <a:ea typeface="Poppins Light"/>
                <a:cs typeface="Poppins Light"/>
                <a:sym typeface="Poppins Light"/>
              </a:rPr>
              <a:t>Give CleanWrap a ⭐ on GitHub to help with visibility and motivate continued development. Open source contributions, bug reports, and pull requests are always welcome.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88454" y="4777047"/>
            <a:ext cx="4049959" cy="96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9"/>
              </a:lnSpc>
              <a:spcBef>
                <a:spcPct val="0"/>
              </a:spcBef>
            </a:pPr>
            <a:r>
              <a:rPr lang="en-US" sz="1392">
                <a:solidFill>
                  <a:srgbClr val="EDEFFA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Support CleanWrap via Bank transfer or bKash mobile payment. Every contribution helps fund new features and keeps the project alive and growing.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88454" y="7556104"/>
            <a:ext cx="4507818" cy="102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  <a:spcBef>
                <a:spcPct val="0"/>
              </a:spcBef>
            </a:pPr>
            <a:r>
              <a:rPr lang="en-US" sz="1492">
                <a:solidFill>
                  <a:srgbClr val="EDEFFA"/>
                </a:solidFill>
                <a:latin typeface="Poppins Light"/>
                <a:ea typeface="Poppins Light"/>
                <a:cs typeface="Poppins Light"/>
                <a:sym typeface="Poppins Light"/>
              </a:rPr>
              <a:t>Follow and connect on GitHub, LinkedIn, Facebook, and Instagram. Source code and full user manual are freely available. Join the community and help shape CleanWrap's future.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62066" y="376915"/>
            <a:ext cx="2035769" cy="1034914"/>
            <a:chOff x="0" y="0"/>
            <a:chExt cx="2714358" cy="13798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38990" cy="1379886"/>
            </a:xfrm>
            <a:custGeom>
              <a:avLst/>
              <a:gdLst/>
              <a:ahLst/>
              <a:cxnLst/>
              <a:rect r="r" b="b" t="t" l="l"/>
              <a:pathLst>
                <a:path h="1379886" w="2538990">
                  <a:moveTo>
                    <a:pt x="0" y="0"/>
                  </a:moveTo>
                  <a:lnTo>
                    <a:pt x="2538990" y="0"/>
                  </a:lnTo>
                  <a:lnTo>
                    <a:pt x="2538990" y="1379886"/>
                  </a:lnTo>
                  <a:lnTo>
                    <a:pt x="0" y="1379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8424" t="-53641" r="-31812" b="-4213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380560" y="795793"/>
              <a:ext cx="2333798" cy="374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5"/>
                </a:lnSpc>
                <a:spcBef>
                  <a:spcPct val="0"/>
                </a:spcBef>
              </a:pPr>
              <a:r>
                <a:rPr lang="en-US" sz="1696" spc="549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ARENA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8775">
            <a:off x="8864037" y="1815156"/>
            <a:ext cx="10238724" cy="9805284"/>
            <a:chOff x="0" y="0"/>
            <a:chExt cx="1021975" cy="978711"/>
          </a:xfrm>
        </p:grpSpPr>
        <p:sp>
          <p:nvSpPr>
            <p:cNvPr name="Freeform 3" id="3"/>
            <p:cNvSpPr/>
            <p:nvPr/>
          </p:nvSpPr>
          <p:spPr>
            <a:xfrm flipH="false" flipV="false" rot="-300000">
              <a:off x="-37870" y="-39837"/>
              <a:ext cx="1097716" cy="1058386"/>
            </a:xfrm>
            <a:custGeom>
              <a:avLst/>
              <a:gdLst/>
              <a:ahLst/>
              <a:cxnLst/>
              <a:rect r="r" b="b" t="t" l="l"/>
              <a:pathLst>
                <a:path h="1058386" w="1097716">
                  <a:moveTo>
                    <a:pt x="116361" y="129"/>
                  </a:moveTo>
                  <a:lnTo>
                    <a:pt x="1066654" y="83269"/>
                  </a:lnTo>
                  <a:cubicBezTo>
                    <a:pt x="1085375" y="84907"/>
                    <a:pt x="1099223" y="101411"/>
                    <a:pt x="1097585" y="120132"/>
                  </a:cubicBezTo>
                  <a:lnTo>
                    <a:pt x="1018216" y="1027325"/>
                  </a:lnTo>
                  <a:cubicBezTo>
                    <a:pt x="1017429" y="1036315"/>
                    <a:pt x="1013104" y="1044624"/>
                    <a:pt x="1006191" y="1050425"/>
                  </a:cubicBezTo>
                  <a:cubicBezTo>
                    <a:pt x="999278" y="1056226"/>
                    <a:pt x="990344" y="1059043"/>
                    <a:pt x="981354" y="1058256"/>
                  </a:cubicBezTo>
                  <a:lnTo>
                    <a:pt x="31061" y="975116"/>
                  </a:lnTo>
                  <a:cubicBezTo>
                    <a:pt x="22071" y="974330"/>
                    <a:pt x="13762" y="970004"/>
                    <a:pt x="7961" y="963091"/>
                  </a:cubicBezTo>
                  <a:cubicBezTo>
                    <a:pt x="2160" y="956178"/>
                    <a:pt x="-657" y="947244"/>
                    <a:pt x="130" y="938254"/>
                  </a:cubicBezTo>
                  <a:lnTo>
                    <a:pt x="79499" y="31061"/>
                  </a:lnTo>
                  <a:cubicBezTo>
                    <a:pt x="80286" y="22071"/>
                    <a:pt x="84611" y="13761"/>
                    <a:pt x="91524" y="7960"/>
                  </a:cubicBezTo>
                  <a:cubicBezTo>
                    <a:pt x="98437" y="2160"/>
                    <a:pt x="107371" y="-657"/>
                    <a:pt x="116361" y="129"/>
                  </a:cubicBezTo>
                  <a:close/>
                </a:path>
              </a:pathLst>
            </a:custGeom>
            <a:blipFill>
              <a:blip r:embed="rId2"/>
              <a:stretch>
                <a:fillRect l="-2534" t="-22211" r="-1940" b="-5116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9130" y="762176"/>
            <a:ext cx="2027261" cy="533049"/>
            <a:chOff x="0" y="0"/>
            <a:chExt cx="154559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5597" cy="406400"/>
            </a:xfrm>
            <a:custGeom>
              <a:avLst/>
              <a:gdLst/>
              <a:ahLst/>
              <a:cxnLst/>
              <a:rect r="r" b="b" t="t" l="l"/>
              <a:pathLst>
                <a:path h="406400" w="1545597">
                  <a:moveTo>
                    <a:pt x="1342397" y="0"/>
                  </a:moveTo>
                  <a:cubicBezTo>
                    <a:pt x="1454621" y="0"/>
                    <a:pt x="1545597" y="90976"/>
                    <a:pt x="1545597" y="203200"/>
                  </a:cubicBezTo>
                  <a:cubicBezTo>
                    <a:pt x="1545597" y="315424"/>
                    <a:pt x="1454621" y="406400"/>
                    <a:pt x="13423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A204">
                    <a:alpha val="100000"/>
                  </a:srgbClr>
                </a:gs>
                <a:gs pos="100000">
                  <a:srgbClr val="8700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545597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7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108302" y="940522"/>
            <a:ext cx="170846" cy="176357"/>
          </a:xfrm>
          <a:custGeom>
            <a:avLst/>
            <a:gdLst/>
            <a:ahLst/>
            <a:cxnLst/>
            <a:rect r="r" b="b" t="t" l="l"/>
            <a:pathLst>
              <a:path h="176357" w="170846">
                <a:moveTo>
                  <a:pt x="0" y="0"/>
                </a:moveTo>
                <a:lnTo>
                  <a:pt x="170846" y="0"/>
                </a:lnTo>
                <a:lnTo>
                  <a:pt x="170846" y="176356"/>
                </a:lnTo>
                <a:lnTo>
                  <a:pt x="0" y="176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3462679"/>
            <a:ext cx="13983399" cy="4396853"/>
            <a:chOff x="0" y="0"/>
            <a:chExt cx="18644532" cy="58624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99948" cy="5862471"/>
            </a:xfrm>
            <a:custGeom>
              <a:avLst/>
              <a:gdLst/>
              <a:ahLst/>
              <a:cxnLst/>
              <a:rect r="r" b="b" t="t" l="l"/>
              <a:pathLst>
                <a:path h="5862471" w="10499948">
                  <a:moveTo>
                    <a:pt x="0" y="0"/>
                  </a:moveTo>
                  <a:lnTo>
                    <a:pt x="10499948" y="0"/>
                  </a:lnTo>
                  <a:lnTo>
                    <a:pt x="10499948" y="5862471"/>
                  </a:lnTo>
                  <a:lnTo>
                    <a:pt x="0" y="5862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3731216" y="733852"/>
              <a:ext cx="9460929" cy="1458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240"/>
                </a:lnSpc>
                <a:spcBef>
                  <a:spcPct val="0"/>
                </a:spcBef>
              </a:pPr>
              <a:r>
                <a:rPr lang="en-US" b="true" sz="6600">
                  <a:solidFill>
                    <a:srgbClr val="6CBDDA"/>
                  </a:solidFill>
                  <a:latin typeface="Ambiguity Bold"/>
                  <a:ea typeface="Ambiguity Bold"/>
                  <a:cs typeface="Ambiguity Bold"/>
                  <a:sym typeface="Ambiguity Bold"/>
                </a:rPr>
                <a:t>DOWNLOAD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409589" y="3170976"/>
              <a:ext cx="14234943" cy="2408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3902"/>
                </a:lnSpc>
                <a:spcBef>
                  <a:spcPct val="0"/>
                </a:spcBef>
              </a:pPr>
              <a:r>
                <a:rPr lang="en-US" b="true" sz="9930">
                  <a:solidFill>
                    <a:srgbClr val="63A1EC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TODAY!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7001" y="399272"/>
            <a:ext cx="1382470" cy="706675"/>
          </a:xfrm>
          <a:custGeom>
            <a:avLst/>
            <a:gdLst/>
            <a:ahLst/>
            <a:cxnLst/>
            <a:rect r="r" b="b" t="t" l="l"/>
            <a:pathLst>
              <a:path h="706675" w="1382470">
                <a:moveTo>
                  <a:pt x="0" y="0"/>
                </a:moveTo>
                <a:lnTo>
                  <a:pt x="1382470" y="0"/>
                </a:lnTo>
                <a:lnTo>
                  <a:pt x="1382470" y="706675"/>
                </a:lnTo>
                <a:lnTo>
                  <a:pt x="0" y="706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</a:blip>
            <a:stretch>
              <a:fillRect l="-45384" t="-64863" r="-42508" b="-6487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614145" y="846747"/>
            <a:ext cx="404158" cy="25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88"/>
              </a:lnSpc>
              <a:spcBef>
                <a:spcPct val="0"/>
              </a:spcBef>
            </a:pPr>
            <a:r>
              <a:rPr lang="en-US" sz="142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DAHRlFnJuFQ</dc:identifier>
  <dcterms:modified xsi:type="dcterms:W3CDTF">2011-08-01T06:04:30Z</dcterms:modified>
  <cp:revision>1</cp:revision>
  <dc:title>CleanWrap: Smart File Organizer</dc:title>
</cp:coreProperties>
</file>